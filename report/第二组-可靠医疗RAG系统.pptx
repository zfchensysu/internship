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90" r:id="rId5"/>
    <p:sldMasterId id="2147483704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负责人</a:t>
            </a:r>
            <a:r>
              <a:t>1234</a:t>
            </a:r>
            <a:r>
              <a:t>最好写具体的名字。然后老师可能会问如果你是串行的结构，</a:t>
            </a:r>
            <a:r>
              <a:t>“</a:t>
            </a:r>
            <a:r>
              <a:t>一个人没干完其他人就等着吗</a:t>
            </a:r>
            <a:r>
              <a:t>”</a:t>
            </a:r>
            <a:r>
              <a:t>类似的话，因此最好能形成并行就可以干的计划。去掉</a:t>
            </a:r>
            <a:r>
              <a:t>AI</a:t>
            </a:r>
            <a:r>
              <a:t>味，诸如</a:t>
            </a:r>
            <a:r>
              <a:t>“</a:t>
            </a:r>
            <a:r>
              <a:t>不用于真实诊疗</a:t>
            </a:r>
            <a:r>
              <a:t>”</a:t>
            </a:r>
            <a:r>
              <a:t>等语句可以去掉。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计划还是有点虚了，最好写清楚具体怎么处理的，比如整理可靠的医疗资料直接写清楚我上次说的</a:t>
            </a:r>
            <a:r>
              <a:t>github</a:t>
            </a:r>
            <a:r>
              <a:t>链接等，从资料找相关原文改写成使用某某工具进行定位，利用某</a:t>
            </a:r>
            <a:r>
              <a:t>api</a:t>
            </a:r>
            <a:r>
              <a:t>进行标注前后</a:t>
            </a:r>
            <a:r>
              <a:t>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和第三个框是同一个时间，而且包含了国庆假期。剂量与特殊人群这一描述有点奇怪，后面这个交付和契约这些语言不太符合学生项目的称呼习惯。每一个框最好写清楚具体的内容，比如选题与资料：可以写清楚预期论文、指南等。这个资料整理的</a:t>
            </a:r>
            <a:r>
              <a:t>标题可以改成数据的清洗与</a:t>
            </a:r>
            <a:r>
              <a:t>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验收门槛可以改为预期的数据效果，右边去掉</a:t>
            </a:r>
            <a:r>
              <a:t>openevidence</a:t>
            </a:r>
            <a:r>
              <a:t>的截图，可以换成任意一个</a:t>
            </a:r>
            <a:r>
              <a:t>qa</a:t>
            </a:r>
            <a:r>
              <a:t>数据集的例子或者让</a:t>
            </a:r>
            <a:r>
              <a:t>ai</a:t>
            </a:r>
            <a:r>
              <a:t>生成预期的</a:t>
            </a:r>
            <a:r>
              <a:t>rag</a:t>
            </a:r>
            <a:r>
              <a:t>数据</a:t>
            </a:r>
            <a:r>
              <a:t>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各位老师好，我负责第四部分，重点是把前面三位同学的成果接成一个可测试、可展示的系统。我的工作分成四个阶段。</a:t>
            </a:r>
            <a:endParaRPr lang="en-US" altLang="zh-CN" dirty="0"/>
          </a:p>
          <a:p>
            <a:r>
              <a:rPr lang="zh-CN" altLang="zh-CN" dirty="0"/>
              <a:t>第一阶段是测试准备，时间为 9 月 20 日到 9 月 30 日。首先，我们从 CMB 和 CMExam 中抽取固定的问题，建立统一测试集。其次，我们把医疗语料、检索索引和测试问题分开保存，避免测试题或答案提前进入资料库，造成数据泄漏。然后，用 Python 编写统一评测脚本，规定每次实验都记录相同的信息，包括问题、检索证据、模型回答、引用来源、是否拒答、响应时间和 Token 用量。这样不同实验之间才具有可比性。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第二阶段，在 10 月 8 日到 10 月 </a:t>
            </a:r>
            <a:r>
              <a:rPr lang="en-US" altLang="zh-CN" dirty="0"/>
              <a:t>25 </a:t>
            </a:r>
            <a:r>
              <a:rPr lang="zh-CN" altLang="zh-CN" dirty="0"/>
              <a:t>日完成消融实验。我们固定 Qwen 模型、核心提示词、输出格式和测试集，只改变检索或核验模块。先测试不使用 RAG 的大模型基线，再分别比较稠密向量检索、BM25 关键词检索、BM25 加向量的混合检索、加入重排、加入父子层级检索、加入引用核验以及加入拒答策略。这样可以逐步回答每个模块到底带来了什么改进，而不是只报告一个最终分数。每组实验都会记录答案准确率、检索命中率、引用命中率、拒答率、误拒率、响应时延和 Token 用量。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第三阶段，在 10 月 </a:t>
            </a:r>
            <a:r>
              <a:rPr lang="en-US" altLang="zh-CN" dirty="0"/>
              <a:t>26 </a:t>
            </a:r>
            <a:r>
              <a:rPr lang="zh-CN" altLang="zh-CN" dirty="0"/>
              <a:t>日到 1</a:t>
            </a:r>
            <a:r>
              <a:rPr lang="en-US" altLang="zh-CN" dirty="0"/>
              <a:t>1</a:t>
            </a:r>
            <a:r>
              <a:rPr lang="zh-CN" altLang="zh-CN" dirty="0"/>
              <a:t> 月 </a:t>
            </a:r>
            <a:r>
              <a:rPr lang="en-US" altLang="zh-CN" dirty="0"/>
              <a:t>7</a:t>
            </a:r>
            <a:r>
              <a:rPr lang="zh-CN" altLang="zh-CN" dirty="0"/>
              <a:t> 日，接入网页。前端使用 Vue 3，展示问题、回答、证据片段、出处链接和拒答原因；后端使用 Python FastAPI，负责调用检索、重排、Qwen 生成和引用核验。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四阶段是全链路验收，从用户提问开始，检查是否找到合适证据，回答是否只使用证据，引用是否能回到原文，证据不足时是否正确拒答，并记录完整日志。最终交付的不只是网页，还包括评测脚本、消融结果表、实验配置、启动说明和现场演示材料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各位老师好，我负责第四部分，重点是把前面三位同学的成果接成一个可测试、可展示的系统。我的工作分成四个阶段。</a:t>
            </a:r>
            <a:endParaRPr lang="en-US" altLang="zh-CN" dirty="0"/>
          </a:p>
          <a:p>
            <a:r>
              <a:rPr lang="zh-CN" altLang="zh-CN" dirty="0"/>
              <a:t>第一阶段是测试准备，时间为 9 月 20 日到 9 月 30 日。首先，我们从 CMB 和 CMExam 中抽取固定的问题，建立统一测试集。其次，我们把医疗语料、检索索引和测试问题分开保存，避免测试题或答案提前进入资料库，造成数据泄漏。然后，用 Python 编写统一评测脚本，规定每次实验都记录相同的信息，包括问题、检索证据、模型回答、引用来源、是否拒答、响应时间和 Token 用量。这样不同实验之间才具有可比性。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第二阶段，在 10 月 8 日到 10 月 </a:t>
            </a:r>
            <a:r>
              <a:rPr lang="en-US" altLang="zh-CN" dirty="0"/>
              <a:t>25 </a:t>
            </a:r>
            <a:r>
              <a:rPr lang="zh-CN" altLang="zh-CN" dirty="0"/>
              <a:t>日完成消融实验。我们固定 Qwen 模型、核心提示词、输出格式和测试集，只改变检索或核验模块。先测试不使用 RAG 的大模型基线，再分别比较稠密向量检索、BM25 关键词检索、BM25 加向量的混合检索、加入重排、加入父子层级检索、加入引用核验以及加入拒答策略。这样可以逐步回答每个模块到底带来了什么改进，而不是只报告一个最终分数。每组实验都会记录答案准确率、检索命中率、引用命中率、拒答率、误拒率、响应时延和 Token 用量。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第三阶段，在 10 月 </a:t>
            </a:r>
            <a:r>
              <a:rPr lang="en-US" altLang="zh-CN" dirty="0"/>
              <a:t>26 </a:t>
            </a:r>
            <a:r>
              <a:rPr lang="zh-CN" altLang="zh-CN" dirty="0"/>
              <a:t>日到 1</a:t>
            </a:r>
            <a:r>
              <a:rPr lang="en-US" altLang="zh-CN" dirty="0"/>
              <a:t>1</a:t>
            </a:r>
            <a:r>
              <a:rPr lang="zh-CN" altLang="zh-CN" dirty="0"/>
              <a:t> 月 </a:t>
            </a:r>
            <a:r>
              <a:rPr lang="en-US" altLang="zh-CN" dirty="0"/>
              <a:t>7</a:t>
            </a:r>
            <a:r>
              <a:rPr lang="zh-CN" altLang="zh-CN" dirty="0"/>
              <a:t> 日，接入网页。前端使用 Vue 3，展示问题、回答、证据片段、出处链接和拒答原因；后端使用 Python FastAPI，负责调用检索、重排、Qwen 生成和引用核验。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第四阶段是全链路验收，从用户提问开始，检查是否找到合适证据，回答是否只使用证据，引用是否能回到原文，证据不足时是否正确拒答，并记录完整日志。最终交付的不只是网页，还包括评测脚本、消融结果表、实验配置、启动说明和现场演示材料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>
            <a:noAutofit/>
          </a:bodyPr>
          <a:lstStyle/>
          <a:p>
            <a:endParaRPr sz="2000" b="1" spc="20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410845" algn="l"/>
                <a:tab pos="772795" algn="l"/>
              </a:tabLst>
            </a:pPr>
            <a:r>
              <a:rPr sz="2400" b="1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中山大学</a:t>
            </a:r>
            <a:endParaRPr sz="2400" b="1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灯片编号占位符 2"/>
          <p:cNvSpPr>
            <a:spLocks noGrp="1"/>
          </p:cNvSpPr>
          <p:nvPr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ctr" defTabSz="914400">
              <a:buNone/>
              <a:defRPr sz="1200" b="1" kern="1200">
                <a:solidFill>
                  <a:srgbClr val="FFFFFF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6272102" y="1448978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algn="r">
              <a:buNone/>
            </a:pPr>
            <a:endParaRPr sz="1500" b="1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>
            <a:noAutofit/>
          </a:bodyPr>
          <a:lstStyle/>
          <a:p>
            <a:endParaRPr sz="2000" b="1" spc="20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410845" algn="l"/>
                <a:tab pos="772795" algn="l"/>
              </a:tabLst>
            </a:pPr>
            <a:r>
              <a:rPr sz="2400" b="1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中山大学</a:t>
            </a:r>
            <a:endParaRPr sz="2400" b="1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灯片编号占位符 2"/>
          <p:cNvSpPr>
            <a:spLocks noGrp="1"/>
          </p:cNvSpPr>
          <p:nvPr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ctr" defTabSz="914400">
              <a:buNone/>
              <a:defRPr sz="1200" b="1" kern="1200">
                <a:solidFill>
                  <a:srgbClr val="FFFFFF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6272102" y="1448978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algn="r">
              <a:buNone/>
            </a:pPr>
            <a:endParaRPr sz="1500" b="1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>
            <a:noAutofit/>
          </a:bodyPr>
          <a:lstStyle/>
          <a:p>
            <a:endParaRPr sz="2000" b="1" spc="20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410845" algn="l"/>
                <a:tab pos="772795" algn="l"/>
              </a:tabLst>
            </a:pPr>
            <a:r>
              <a:rPr sz="2400" b="1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中山大学</a:t>
            </a:r>
            <a:endParaRPr sz="2400" b="1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7" name="图片 1"/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B17F69-64E9-4312-A2E8-4A5CCD8538C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灯片编号占位符 2"/>
          <p:cNvSpPr>
            <a:spLocks noGrp="1"/>
          </p:cNvSpPr>
          <p:nvPr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ctr" defTabSz="914400">
              <a:buNone/>
              <a:defRPr sz="1200" b="1" kern="1200">
                <a:solidFill>
                  <a:srgbClr val="FFFFFF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48F63A3B-78C7-47BE-AE5E-E10140E04643}" type="slidenum">
              <a:rPr/>
            </a:fld>
            <a:endParaRPr/>
          </a:p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6272102" y="1448978"/>
            <a:ext cx="5436000" cy="736282"/>
          </a:xfrm>
          <a:prstGeom prst="rect">
            <a:avLst/>
          </a:prstGeo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algn="r">
              <a:buNone/>
            </a:pPr>
            <a:fld id="{E00927DD-F091-7547-A2A3-87B2E2E5D07E}" type="slidenum">
              <a:rPr sz="1500" b="1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fld>
            <a:endParaRPr sz="1500" b="1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tabLst>
                <a:tab pos="410845" algn="l"/>
                <a:tab pos="772795" algn="l"/>
              </a:tabLs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中山大学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2"/>
          <p:cNvSpPr txBox="1"/>
          <p:nvPr userDrawn="1"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2102" y="1448978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/>
            <a:fld id="{E00927DD-F091-7547-A2A3-87B2E2E5D07E}" type="slidenum">
              <a:rPr lang="en-US" sz="15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en-US" sz="1500" b="1" dirty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37558" y="124333"/>
            <a:ext cx="1432484" cy="47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tabLst>
                <a:tab pos="410845" algn="l"/>
                <a:tab pos="772795" algn="l"/>
              </a:tabLs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中山大学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82200" y="17416"/>
            <a:ext cx="719390" cy="725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2"/>
          <p:cNvSpPr txBox="1"/>
          <p:nvPr userDrawn="1"/>
        </p:nvSpPr>
        <p:spPr>
          <a:xfrm>
            <a:off x="5691029" y="6446837"/>
            <a:ext cx="8099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10540" y="1463829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72102" y="1448978"/>
            <a:ext cx="5436000" cy="736282"/>
          </a:xfrm>
          <a:solidFill>
            <a:srgbClr val="005696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 lIns="91440" rIns="91440" anchor="ctr"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/>
            <a:fld id="{E00927DD-F091-7547-A2A3-87B2E2E5D07E}" type="slidenum">
              <a:rPr lang="en-US" sz="15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en-US" sz="1500" b="1" dirty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4.xml"/><Relationship Id="rId14" Type="http://schemas.openxmlformats.org/officeDocument/2006/relationships/theme" Target="../theme/theme5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3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9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52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6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65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630936" y="-630936"/>
            <a:ext cx="2542032" cy="254203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00A06B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158984" y="5084064"/>
            <a:ext cx="3172968" cy="3172968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00A06B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0" y="1901952"/>
            <a:ext cx="12191714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333375" rIns="95" bIns="0" anchor="t">
            <a:noAutofit/>
          </a:bodyPr>
          <a:lstStyle/>
          <a:p>
            <a:pPr algn="ctr">
              <a:buNone/>
            </a:pPr>
            <a:r>
              <a:rPr lang="zh-CN" altLang="en-US" sz="3000" b="1">
                <a:solidFill>
                  <a:srgbClr val="70AD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基于检索增强生成（RAG）的可信医疗智能问答系统</a:t>
            </a:r>
            <a:endParaRPr sz="3000" b="1">
              <a:solidFill>
                <a:srgbClr val="70AD4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</a:pPr>
            <a:endParaRPr sz="3000" b="1">
              <a:solidFill>
                <a:srgbClr val="70AD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0" y="3246120"/>
            <a:ext cx="1219171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125730" rIns="95" bIns="0" anchor="t">
            <a:noAutofit/>
          </a:bodyPr>
          <a:lstStyle/>
          <a:p>
            <a:pPr algn="ctr">
              <a:buNone/>
            </a:pPr>
            <a:r>
              <a:rPr lang="zh-CN" sz="1950" b="1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第二组</a:t>
            </a:r>
            <a:endParaRPr lang="zh-CN" sz="1950" b="1">
              <a:solidFill>
                <a:srgbClr val="10B9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059936" y="4160520"/>
            <a:ext cx="4059936" cy="29260"/>
          </a:xfrm>
          <a:prstGeom prst="rect">
            <a:avLst/>
          </a:prstGeom>
          <a:solidFill>
            <a:srgbClr val="10B98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魏来</a:t>
            </a:r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· 项目整体安排</a:t>
            </a:r>
            <a:endParaRPr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12064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58368" y="17830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207008" y="1751552"/>
            <a:ext cx="10332720" cy="447008"/>
          </a:xfrm>
          <a:prstGeom prst="rect">
            <a:avLst/>
          </a:prstGeom>
          <a:noFill/>
          <a:ln>
            <a:noFill/>
          </a:ln>
        </p:spPr>
        <p:txBody>
          <a:bodyPr wrap="none" lIns="0" tIns="38667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第一步｜从中文医学语料库（github.com/chun19920827/corpus）选指南、共识和教材，保留标题与原文位置。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12064" y="2359152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58368" y="2478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58368" y="2478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207008" y="2558320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第二步｜用 BM25 关键词检索 + 向量语义检索定位相关原文，补足前后条件。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2064" y="3054096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58368" y="31729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58368" y="3172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207008" y="3253264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第三步｜调用大模型（如 GLM-4 / Qwen）按原文生成回答，关键结论后标出处。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12064" y="3749039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58368" y="3867911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58368" y="386791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207008" y="3948208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第四步｜逐条核验回答与出处是否对应，证据不足时改写、删除或拒答。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12064" y="4443983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58368" y="456285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58368" y="45628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1207008" y="4643152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第五步｜用评测指标（Recall@K、MRR、nDCG）测试，完成网页演示与课程报告。</a:t>
            </a:r>
            <a:endParaRPr sz="13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512064" y="57790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pPr algn="l">
              <a:buNone/>
            </a:pPr>
            <a:r>
              <a:rPr sz="145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分工并行：四条线同步推进</a:t>
            </a:r>
            <a:endParaRPr sz="145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12064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49224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5"/>
              </a:lnSpc>
              <a:buNone/>
            </a:pPr>
            <a:r>
              <a:rPr lang="zh-CN" altLang="en-US"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数据的清洗与处理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lang="zh-CN"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魏来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  <a:buNone/>
            </a:pPr>
            <a:r>
              <a:rPr sz="105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语料、分片、来源标注</a:t>
            </a:r>
            <a:endParaRPr sz="105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4293108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4430268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5"/>
              </a:lnSpc>
              <a:buNone/>
            </a:pP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搜索功能（</a:t>
            </a:r>
            <a:r>
              <a:rPr lang="zh-CN"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方为平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  <a:buNone/>
            </a:pPr>
            <a:r>
              <a:rPr sz="105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关键词 + 语义检索、重排</a:t>
            </a:r>
            <a:endParaRPr sz="105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8074152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8211312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5"/>
              </a:lnSpc>
              <a:buNone/>
            </a:pP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回答与网页（</a:t>
            </a:r>
            <a:r>
              <a:rPr lang="zh-CN"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陈卓凡，王煜杰</a:t>
            </a:r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  <a:buNone/>
            </a:pPr>
            <a:r>
              <a:rPr sz="105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生成引用、测试与演示</a:t>
            </a:r>
            <a:endParaRPr sz="105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魏来</a:t>
            </a:r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数据清洗与处理计划</a:t>
            </a:r>
            <a:endParaRPr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21208" y="969264"/>
            <a:ext cx="1116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15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目标：整理一套来源清楚、可回到原文的医疗资料包</a:t>
            </a:r>
            <a:endParaRPr sz="15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12064" y="1691640"/>
            <a:ext cx="205740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1792" y="1783080"/>
            <a:ext cx="1837944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</a:t>
            </a:r>
            <a:r>
              <a:rPr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9.20 - 9.30</a:t>
            </a:r>
            <a:endParaRPr sz="11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650"/>
              </a:lnSpc>
              <a:spcBef>
                <a:spcPts val="80"/>
              </a:spcBef>
              <a:buNone/>
            </a:pPr>
            <a:r>
              <a:rPr sz="14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选题与数据收集</a:t>
            </a:r>
            <a:endParaRPr sz="14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TextBox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87752" y="1938528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▸</a:t>
            </a:r>
            <a:endParaRPr sz="13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Rectangle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12064" y="2670048"/>
            <a:ext cx="205740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0080" y="2816352"/>
            <a:ext cx="1801368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从语料库下载指南、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共识、教材子集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88920" y="1691640"/>
            <a:ext cx="205740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98648" y="1783080"/>
            <a:ext cx="1837944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</a:t>
            </a:r>
            <a:r>
              <a:rPr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10.8 - 10.18</a:t>
            </a:r>
            <a:endParaRPr sz="11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650"/>
              </a:lnSpc>
              <a:spcBef>
                <a:spcPts val="80"/>
              </a:spcBef>
              <a:buNone/>
            </a:pPr>
            <a:r>
              <a:rPr sz="14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数据清洗与分片</a:t>
            </a:r>
            <a:endParaRPr sz="14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864608" y="1938528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▸</a:t>
            </a:r>
            <a:endParaRPr sz="13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788920" y="2670048"/>
            <a:ext cx="205740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916936" y="2816352"/>
            <a:ext cx="1801368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切分长文，标注标题、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来源与原文位置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65776" y="1691640"/>
            <a:ext cx="205740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175504" y="1783080"/>
            <a:ext cx="1837944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</a:t>
            </a:r>
            <a:r>
              <a:rPr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10.19 - 10.31</a:t>
            </a:r>
            <a:endParaRPr sz="11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650"/>
              </a:lnSpc>
              <a:spcBef>
                <a:spcPts val="80"/>
              </a:spcBef>
              <a:buNone/>
            </a:pPr>
            <a:r>
              <a:rPr sz="14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数据固定</a:t>
            </a:r>
            <a:endParaRPr sz="14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TextBox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141464" y="1938528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▸</a:t>
            </a:r>
            <a:endParaRPr sz="13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065776" y="2670048"/>
            <a:ext cx="205740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193792" y="2816352"/>
            <a:ext cx="1801368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pPr algn="l">
              <a:buNone/>
            </a:pPr>
            <a:r>
              <a:rPr lang="zh-CN"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固定当前</a:t>
            </a: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版本，标注来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源可靠性等级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342632" y="1691640"/>
            <a:ext cx="205740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452360" y="1783080"/>
            <a:ext cx="1837944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</a:t>
            </a:r>
            <a:r>
              <a:rPr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11.1 - 11.15</a:t>
            </a:r>
            <a:endParaRPr sz="11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650"/>
              </a:lnSpc>
              <a:spcBef>
                <a:spcPts val="80"/>
              </a:spcBef>
              <a:buNone/>
            </a:pPr>
            <a:r>
              <a:rPr sz="14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最终抽查</a:t>
            </a:r>
            <a:endParaRPr sz="14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TextBox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418320" y="1938528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▸</a:t>
            </a:r>
            <a:endParaRPr sz="13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Rectangle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342632" y="2670048"/>
            <a:ext cx="205740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7470648" y="2816352"/>
            <a:ext cx="1801368" cy="918877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复核失败案例的原文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与出处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619488" y="1691640"/>
            <a:ext cx="2057400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9729216" y="1783080"/>
            <a:ext cx="1837944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产出数据包</a:t>
            </a:r>
            <a:endParaRPr sz="11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650"/>
              </a:lnSpc>
              <a:spcBef>
                <a:spcPts val="80"/>
              </a:spcBef>
              <a:buNone/>
            </a:pPr>
            <a:r>
              <a:rPr sz="14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供全组使用</a:t>
            </a:r>
            <a:endParaRPr sz="14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619488" y="2670048"/>
            <a:ext cx="205740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Freeform 64"/>
          <p:cNvSpPr>
            <a:spLocks noGrp="1"/>
          </p:cNvSpPr>
          <p:nvPr/>
        </p:nvSpPr>
        <p:spPr>
          <a:xfrm>
            <a:off x="9747504" y="2816352"/>
            <a:ext cx="1801368" cy="1463040"/>
          </a:xfrm>
          <a:custGeom>
            <a:avLst/>
            <a:gdLst/>
            <a:ahLst/>
            <a:cxnLst/>
            <a:rect l="l" t="t" r="r" b="b"/>
            <a:pathLst>
              <a:path w="1801368" h="1463040">
                <a:moveTo>
                  <a:pt x="0" y="0"/>
                </a:moveTo>
                <a:lnTo>
                  <a:pt x="1801368" y="0"/>
                </a:lnTo>
                <a:lnTo>
                  <a:pt x="1801368" y="1463040"/>
                </a:lnTo>
                <a:lnTo>
                  <a:pt x="0" y="146304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TextBox 65"/>
          <p:cNvSpPr>
            <a:spLocks noGrp="1"/>
          </p:cNvSpPr>
          <p:nvPr/>
        </p:nvSpPr>
        <p:spPr>
          <a:xfrm>
            <a:off x="9741663" y="2816347"/>
            <a:ext cx="14224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给检索：稳定版本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6" name="TextBox 66"/>
          <p:cNvSpPr>
            <a:spLocks noGrp="1"/>
          </p:cNvSpPr>
          <p:nvPr/>
        </p:nvSpPr>
        <p:spPr>
          <a:xfrm>
            <a:off x="9747250" y="3180715"/>
            <a:ext cx="197739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给生成：原文与出处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7" name="TextBox 67"/>
          <p:cNvSpPr>
            <a:spLocks noGrp="1"/>
          </p:cNvSpPr>
          <p:nvPr/>
        </p:nvSpPr>
        <p:spPr>
          <a:xfrm>
            <a:off x="9747250" y="3518535"/>
            <a:ext cx="1372235" cy="283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产出：corpus_v1</a:t>
            </a:r>
            <a:r>
              <a:rPr lang="zh-CN"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数据包</a:t>
            </a:r>
            <a:endParaRPr lang="zh-CN"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8" name="TextBox 68"/>
          <p:cNvSpPr>
            <a:spLocks noGrp="1"/>
          </p:cNvSpPr>
          <p:nvPr/>
        </p:nvSpPr>
        <p:spPr>
          <a:xfrm>
            <a:off x="9747250" y="3801745"/>
            <a:ext cx="2244725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格式：</a:t>
            </a:r>
            <a:r>
              <a:rPr lang="zh-CN"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片段编号</a:t>
            </a: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+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来源元数据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511810" y="4617720"/>
            <a:ext cx="5403850" cy="1755775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1" name="Freeform 71"/>
          <p:cNvSpPr>
            <a:spLocks noGrp="1"/>
          </p:cNvSpPr>
          <p:nvPr/>
        </p:nvSpPr>
        <p:spPr>
          <a:xfrm>
            <a:off x="640175" y="4679442"/>
            <a:ext cx="5001768" cy="1691640"/>
          </a:xfrm>
          <a:custGeom>
            <a:avLst/>
            <a:gdLst/>
            <a:ahLst/>
            <a:cxnLst/>
            <a:rect l="l" t="t" r="r" b="b"/>
            <a:pathLst>
              <a:path w="5001768" h="1691640">
                <a:moveTo>
                  <a:pt x="0" y="0"/>
                </a:moveTo>
                <a:lnTo>
                  <a:pt x="5001768" y="0"/>
                </a:lnTo>
                <a:lnTo>
                  <a:pt x="5001768" y="1691640"/>
                </a:lnTo>
                <a:lnTo>
                  <a:pt x="0" y="169164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TextBox 72"/>
          <p:cNvSpPr>
            <a:spLocks noGrp="1"/>
          </p:cNvSpPr>
          <p:nvPr/>
        </p:nvSpPr>
        <p:spPr>
          <a:xfrm>
            <a:off x="632811" y="4679437"/>
            <a:ext cx="1576321" cy="28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为什么先整理资料</a:t>
            </a:r>
            <a:endParaRPr sz="1450" b="1">
              <a:solidFill>
                <a:srgbClr val="10B9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3" name="TextBox 73"/>
          <p:cNvSpPr>
            <a:spLocks noGrp="1"/>
          </p:cNvSpPr>
          <p:nvPr/>
        </p:nvSpPr>
        <p:spPr>
          <a:xfrm>
            <a:off x="633062" y="4949195"/>
            <a:ext cx="4725927" cy="2738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资料不完整，后面就可能找不到原文，或漏掉重要条件。</a:t>
            </a:r>
            <a:endParaRPr sz="14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6272530" y="4617720"/>
            <a:ext cx="5403850" cy="1509395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Freeform 76"/>
          <p:cNvSpPr>
            <a:spLocks noGrp="1"/>
          </p:cNvSpPr>
          <p:nvPr/>
        </p:nvSpPr>
        <p:spPr>
          <a:xfrm>
            <a:off x="6473952" y="4626769"/>
            <a:ext cx="5001768" cy="1415986"/>
          </a:xfrm>
          <a:custGeom>
            <a:avLst/>
            <a:gdLst/>
            <a:ahLst/>
            <a:cxnLst/>
            <a:rect l="l" t="t" r="r" b="b"/>
            <a:pathLst>
              <a:path w="5001768" h="1415986">
                <a:moveTo>
                  <a:pt x="0" y="0"/>
                </a:moveTo>
                <a:lnTo>
                  <a:pt x="5001768" y="0"/>
                </a:lnTo>
                <a:lnTo>
                  <a:pt x="5001768" y="1415986"/>
                </a:lnTo>
                <a:lnTo>
                  <a:pt x="0" y="1415986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TextBox 77"/>
          <p:cNvSpPr>
            <a:spLocks noGrp="1"/>
          </p:cNvSpPr>
          <p:nvPr/>
        </p:nvSpPr>
        <p:spPr>
          <a:xfrm>
            <a:off x="6466587" y="4626764"/>
            <a:ext cx="795525" cy="28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阶段重点</a:t>
            </a:r>
            <a:endParaRPr sz="1450" b="1">
              <a:solidFill>
                <a:srgbClr val="10B9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8" name="TextBox 78"/>
          <p:cNvSpPr>
            <a:spLocks noGrp="1"/>
          </p:cNvSpPr>
          <p:nvPr/>
        </p:nvSpPr>
        <p:spPr>
          <a:xfrm>
            <a:off x="6466839" y="4896426"/>
            <a:ext cx="3173730" cy="688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90"/>
              </a:lnSpc>
              <a:buNone/>
            </a:pPr>
            <a:r>
              <a:rPr lang="en-US" altLang="zh-CN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9.20 - 9.30</a:t>
            </a:r>
            <a:r>
              <a:rPr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：选题与收集；</a:t>
            </a:r>
            <a:endParaRPr sz="16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790"/>
              </a:lnSpc>
              <a:buNone/>
            </a:pPr>
            <a:r>
              <a:rPr lang="en-US" altLang="zh-CN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10.8 - 10.31</a:t>
            </a:r>
            <a:r>
              <a:rPr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：清洗、分片与固定；</a:t>
            </a:r>
            <a:endParaRPr sz="16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790"/>
              </a:lnSpc>
              <a:buNone/>
            </a:pPr>
            <a:r>
              <a:rPr lang="en-US" altLang="zh-CN"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11.1 - 11.15</a:t>
            </a:r>
            <a:r>
              <a:rPr sz="160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：抽查与产出。</a:t>
            </a:r>
            <a:endParaRPr sz="160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472726" y="6508147"/>
            <a:ext cx="1116482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-90" rIns="0" bIns="0" anchor="t">
            <a:noAutofit/>
          </a:bodyPr>
          <a:lstStyle/>
          <a:p>
            <a:pPr algn="l">
              <a:buNone/>
            </a:pPr>
            <a:r>
              <a:rPr sz="11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数据来源：中文医学语料库 github.com/chun19920827/corpus</a:t>
            </a:r>
            <a:endParaRPr sz="11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464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zh-CN"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魏来</a:t>
            </a:r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预期数据效果与协作</a:t>
            </a:r>
            <a:endParaRPr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12064" y="1600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pPr marL="141605" indent="-141605" algn="l">
              <a:buClr>
                <a:srgbClr val="10B981"/>
              </a:buClr>
              <a:buSzTx/>
              <a:buFontTx/>
              <a:buChar char="■"/>
            </a:pPr>
            <a:r>
              <a:rPr sz="165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预期数据效果</a:t>
            </a:r>
            <a:endParaRPr sz="165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Freeform 19"/>
          <p:cNvSpPr>
            <a:spLocks noGrp="1"/>
          </p:cNvSpPr>
          <p:nvPr/>
        </p:nvSpPr>
        <p:spPr>
          <a:xfrm>
            <a:off x="512064" y="2011680"/>
            <a:ext cx="6675120" cy="3944588"/>
          </a:xfrm>
          <a:custGeom>
            <a:avLst/>
            <a:gdLst/>
            <a:ahLst/>
            <a:cxnLst/>
            <a:rect l="l" t="t" r="r" b="b"/>
            <a:pathLst>
              <a:path w="6675120" h="3944588">
                <a:moveTo>
                  <a:pt x="0" y="0"/>
                </a:moveTo>
                <a:lnTo>
                  <a:pt x="6675120" y="0"/>
                </a:lnTo>
                <a:lnTo>
                  <a:pt x="6675120" y="3944588"/>
                </a:lnTo>
                <a:lnTo>
                  <a:pt x="0" y="3944588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TextBox 20"/>
          <p:cNvSpPr>
            <a:spLocks noGrp="1"/>
          </p:cNvSpPr>
          <p:nvPr/>
        </p:nvSpPr>
        <p:spPr>
          <a:xfrm>
            <a:off x="504951" y="2011685"/>
            <a:ext cx="46228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每个片段有</a:t>
            </a:r>
            <a:r>
              <a:rPr lang="zh-CN"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片段编号</a:t>
            </a: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、来源等级和原文位置，可回到原文。</a:t>
            </a:r>
            <a:endParaRPr sz="14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504951" y="2609093"/>
            <a:ext cx="40894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每个片段都能查到来源和上下文，没有悬空的片段。</a:t>
            </a:r>
            <a:endParaRPr sz="14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504951" y="3206501"/>
            <a:ext cx="32004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来源规则、固定版本和变更记录都清楚。</a:t>
            </a:r>
            <a:endParaRPr sz="14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504951" y="3803909"/>
            <a:ext cx="30226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数据没达标前，先不进正式检索评测。</a:t>
            </a:r>
            <a:endParaRPr sz="14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504951" y="4401317"/>
            <a:ext cx="23114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给检索：稳定版本和元数据。</a:t>
            </a:r>
            <a:endParaRPr sz="14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504951" y="4998725"/>
            <a:ext cx="24892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给生成：可回看的原文和出处。</a:t>
            </a:r>
            <a:endParaRPr sz="140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61504" y="1600200"/>
            <a:ext cx="4215384" cy="178308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Freeform 28"/>
          <p:cNvSpPr>
            <a:spLocks noGrp="1"/>
          </p:cNvSpPr>
          <p:nvPr/>
        </p:nvSpPr>
        <p:spPr>
          <a:xfrm>
            <a:off x="7662672" y="1764792"/>
            <a:ext cx="3813048" cy="1453896"/>
          </a:xfrm>
          <a:custGeom>
            <a:avLst/>
            <a:gdLst/>
            <a:ahLst/>
            <a:cxnLst/>
            <a:rect l="l" t="t" r="r" b="b"/>
            <a:pathLst>
              <a:path w="3813048" h="1453896">
                <a:moveTo>
                  <a:pt x="0" y="0"/>
                </a:moveTo>
                <a:lnTo>
                  <a:pt x="3813048" y="0"/>
                </a:lnTo>
                <a:lnTo>
                  <a:pt x="3813048" y="1453896"/>
                </a:lnTo>
                <a:lnTo>
                  <a:pt x="0" y="1453896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TextBox 29"/>
          <p:cNvSpPr>
            <a:spLocks noGrp="1"/>
          </p:cNvSpPr>
          <p:nvPr/>
        </p:nvSpPr>
        <p:spPr>
          <a:xfrm>
            <a:off x="7655307" y="1764787"/>
            <a:ext cx="7366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最终产出</a:t>
            </a:r>
            <a:endParaRPr sz="1450" b="1">
              <a:solidFill>
                <a:srgbClr val="10B9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7656831" y="2034535"/>
            <a:ext cx="3807460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05"/>
              </a:lnSpc>
              <a:buNone/>
            </a:pPr>
            <a:r>
              <a:rPr sz="115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corpus_v1 数据包（来源分级 + 片段标识 + 原文定位）；</a:t>
            </a:r>
            <a:endParaRPr sz="115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405"/>
              </a:lnSpc>
              <a:buNone/>
            </a:pPr>
            <a:r>
              <a:rPr lang="en-US" altLang="zh-CN" sz="115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11.1 - 11.15</a:t>
            </a:r>
            <a:r>
              <a:rPr sz="115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完成数据卡和质量抽查。</a:t>
            </a:r>
            <a:endParaRPr sz="115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58075" y="3581400"/>
            <a:ext cx="4219575" cy="2609850"/>
          </a:xfrm>
          <a:prstGeom prst="roundRect">
            <a:avLst>
              <a:gd name="adj" fmla="val 292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defRPr sz="975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400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预期 RAG 数据示例（一段 = 一条）</a:t>
            </a:r>
            <a:endParaRPr sz="1400">
              <a:solidFill>
                <a:srgbClr val="14532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10000"/>
              </a:lnSpc>
              <a:defRPr sz="975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1400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片段编号</a:t>
            </a:r>
            <a:r>
              <a:rPr sz="1400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: guide_htn_0012</a:t>
            </a:r>
            <a:endParaRPr sz="1400">
              <a:solidFill>
                <a:srgbClr val="14532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10000"/>
              </a:lnSpc>
              <a:defRPr sz="975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400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来源: 中国高血压防治指南(2024)</a:t>
            </a:r>
            <a:endParaRPr sz="1400">
              <a:solidFill>
                <a:srgbClr val="14532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10000"/>
              </a:lnSpc>
              <a:defRPr sz="975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400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等级: 临床指南 · 位置: 第5章 降压目标</a:t>
            </a:r>
            <a:endParaRPr sz="1400">
              <a:solidFill>
                <a:srgbClr val="14532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10000"/>
              </a:lnSpc>
              <a:defRPr sz="975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400">
                <a:solidFill>
                  <a:srgbClr val="14532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原文: 一般高血压患者血压应降至 &lt;140/90mmHg</a:t>
            </a:r>
            <a:endParaRPr sz="1400">
              <a:solidFill>
                <a:srgbClr val="14532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方为平 · 原文检索与证据整理</a:t>
            </a:r>
            <a:endParaRPr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21208" y="969264"/>
            <a:ext cx="1116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1425" b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目标：根据一个具体问题，从医疗资料中找回相关原文，并保留出处和上下文</a:t>
            </a:r>
            <a:endParaRPr sz="1425" b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12064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58368" y="17830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207008" y="1751552"/>
            <a:ext cx="10332720" cy="44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2026.9.20-9.30｜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确定资料片段和来源信息，建立关键词倒排索引。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12064" y="2359152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58368" y="2478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58368" y="2478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207008" y="2558320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BM25 关键词检索｜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优先查找药名、剂量、检查指标等需要精确匹配的内容。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2064" y="3054096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58368" y="31729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58368" y="3172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207008" y="3253264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2026.10.8-10.24｜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加入稠密向量检索，找到意思相近但用词不同的原文，再合并两类搜索结果。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12064" y="3749039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58368" y="3867911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58368" y="386791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207008" y="3948208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cross-encoder 重排｜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对候选原文再次排序，并把前后内容和父章节一起返回。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12064" y="4443983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58368" y="456285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58368" y="45628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1207008" y="4643152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2026.10.27-11.14｜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在固定开发题上比较关键词、向量、混合和重排方案，记录命中率、排序位置和响应时间。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512064" y="5157216"/>
            <a:ext cx="1116482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sz="1165" b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512064" y="5280025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>
            <a:noAutofit/>
          </a:bodyPr>
          <a:lstStyle/>
          <a:p>
            <a:r>
              <a:rPr sz="145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检索交付</a:t>
            </a:r>
            <a:endParaRPr sz="145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14299" y="5660263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9224" y="5732145"/>
            <a:ext cx="3328416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检索输入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sz="96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用户问题 + 医学条件</a:t>
            </a:r>
            <a:endParaRPr sz="96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Rectangle 3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395343" y="5660263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30268" y="5732145"/>
            <a:ext cx="3328416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证据窗口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sz="96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原文片段 + 来源 + 页码 + 上下文</a:t>
            </a:r>
            <a:endParaRPr sz="96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Rectangle 3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176387" y="5660263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211312" y="5732145"/>
            <a:ext cx="3328416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搜索记录</a:t>
            </a:r>
            <a:endParaRPr sz="12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sz="960" b="1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搜索结果 + 顺序 + 用时 + 失败原因</a:t>
            </a:r>
            <a:endParaRPr sz="960" b="1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7" name="bottom-references"/>
          <p:cNvSpPr>
            <a:spLocks noGrp="1"/>
          </p:cNvSpPr>
          <p:nvPr/>
        </p:nvSpPr>
        <p:spPr>
          <a:xfrm>
            <a:off x="580390" y="6355080"/>
            <a:ext cx="11164570" cy="413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参考文献：[1] Robertson &amp; Zaragoza, BM25, 2009；[2] Karpukhin et al., Dense Passage Retrieval, EMNLP 2020；[3] Nogueira &amp; Cho, Passage Re-ranking with BERT, 2019；[4] Lewis et al., RAG, NeurIPS 2020.</a:t>
            </a:r>
            <a:endParaRPr sz="8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8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知识库：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https://github.com/chun19920827/corpus</a:t>
            </a:r>
            <a:endParaRPr lang="en-US" altLang="zh-CN" sz="8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8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题库：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[1] </a:t>
            </a:r>
            <a:r>
              <a:rPr lang="zh-CN" altLang="en-US" sz="8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github.com/williamliujl/CMExam</a:t>
            </a:r>
            <a:r>
              <a:rPr lang="en-US" altLang="zh-CN" sz="8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 [2] </a:t>
            </a:r>
            <a:r>
              <a:rPr lang="zh-CN" altLang="en-US" sz="8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github.com/FreedomIntelligence/CMB</a:t>
            </a:r>
            <a:endParaRPr sz="800" b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endParaRPr b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endParaRPr lang="zh-CN" sz="68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endParaRPr lang="zh-CN" sz="68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27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方为平 · 检索结果检查与交付</a:t>
            </a:r>
            <a:endParaRPr sz="27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21208" y="969264"/>
            <a:ext cx="11164824" cy="2317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1350" b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检查目标：找得到，排得准，能回到原文，失败能复盘</a:t>
            </a:r>
            <a:endParaRPr sz="1350" b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12064" y="1600200"/>
            <a:ext cx="5905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r>
              <a:rPr sz="15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结果检查</a:t>
            </a:r>
            <a:endParaRPr sz="15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2064" y="1965960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40080" y="21305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40080" y="21305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170432" y="1965960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原文可回看｜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每条结果保留原文编号、来源、标题、页码和上下文。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12064" y="2752344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40080" y="291693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40080" y="29169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170432" y="2752344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搜索索引一致｜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关键词和向量搜索使用同一份原文片段，结果可以合并和追踪。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12064" y="3538727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640080" y="37033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1170432" y="3538728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排序有效｜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在同一批开发题上比较关键词检索、向量检索、混合检索和重排。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12064" y="4325112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40080" y="4489703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40080" y="448970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1170432" y="4325112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条件不遗漏｜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返回的原文要包含剂量、禁忌、人群和时间等条件。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512064" y="5111496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40080" y="527608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64008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170432" y="5111496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15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问题可定位｜</a:t>
            </a:r>
            <a:r>
              <a:rPr sz="1215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记录没搜到、搜错、排序错误和超时原因，固定设置后重新测试。</a:t>
            </a:r>
            <a:endParaRPr sz="1215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6821424" y="1600200"/>
            <a:ext cx="4857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>
            <a:noAutofit/>
          </a:bodyPr>
          <a:lstStyle/>
          <a:p>
            <a:r>
              <a:rPr sz="1500" b="1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最终交付物</a:t>
            </a:r>
            <a:endParaRPr sz="1500" b="1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821424" y="1965960"/>
            <a:ext cx="4855464" cy="269748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7022592" y="2130552"/>
            <a:ext cx="4453128" cy="2368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14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检索脚本与索引说明</a:t>
            </a:r>
            <a:endParaRPr sz="114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sz="114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证据窗口示例与字段说明</a:t>
            </a:r>
            <a:endParaRPr sz="114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sz="114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四组检索方案对比结果</a:t>
            </a:r>
            <a:endParaRPr sz="114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sz="114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失败案例与调整记录</a:t>
            </a:r>
            <a:endParaRPr sz="114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6821424" y="4846320"/>
            <a:ext cx="485546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990" b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输出结果：问题 + 相关原文 + 来源信息 + 搜索记录</a:t>
            </a:r>
            <a:endParaRPr sz="990" b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511810" y="5866765"/>
            <a:ext cx="11164570" cy="396875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786384" y="5867400"/>
            <a:ext cx="1060704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36009" rIns="0" bIns="0" anchor="t">
            <a:noAutofit/>
          </a:bodyPr>
          <a:lstStyle/>
          <a:p>
            <a:r>
              <a:rPr sz="1080" b="1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交付重点｜</a:t>
            </a:r>
            <a:r>
              <a:rPr sz="108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每条原文都能回到出处，并可直接交给</a:t>
            </a:r>
            <a:r>
              <a:rPr lang="zh-CN" sz="108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</a:t>
            </a:r>
            <a:r>
              <a:rPr sz="1080" b="1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生成回答和引用。</a:t>
            </a:r>
            <a:endParaRPr sz="1080" b="1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6" name="bottom-references"/>
          <p:cNvSpPr>
            <a:spLocks noGrp="1"/>
          </p:cNvSpPr>
          <p:nvPr/>
        </p:nvSpPr>
        <p:spPr>
          <a:xfrm>
            <a:off x="521335" y="6386195"/>
            <a:ext cx="11164570" cy="400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参考文献：[1] Robertson &amp; Zaragoza, BM25, 2009；[2] Karpukhin et al., Dense Passage Retrieval, EMNLP 2020；[3] Nogueira &amp; Cho, Passage Re-ranking with BERT, 2019；[4] Lewis et al., RAG, NeurIPS 2020.</a:t>
            </a:r>
            <a:endParaRPr sz="8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800">
                <a:sym typeface="+mn-ea"/>
              </a:rPr>
              <a:t>知识库：</a:t>
            </a:r>
            <a:r>
              <a:rPr lang="en-US" altLang="zh-CN" sz="800">
                <a:sym typeface="+mn-ea"/>
              </a:rPr>
              <a:t>https://github.com/chun19920827/corpus</a:t>
            </a:r>
            <a:endParaRPr lang="en-US" altLang="zh-CN" sz="8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800">
                <a:sym typeface="+mn-ea"/>
              </a:rPr>
              <a:t>题库：</a:t>
            </a:r>
            <a:r>
              <a:rPr lang="en-US" altLang="zh-CN" sz="800">
                <a:sym typeface="+mn-ea"/>
              </a:rPr>
              <a:t>[1] </a:t>
            </a:r>
            <a:r>
              <a:rPr lang="zh-CN" altLang="en-US" sz="8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github.com/williamliujl/CMExam</a:t>
            </a:r>
            <a:r>
              <a:rPr lang="en-US" altLang="zh-CN" sz="8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 [2] </a:t>
            </a:r>
            <a:r>
              <a:rPr lang="zh-CN" altLang="en-US" sz="8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github.com/FreedomIntelligence/CMB</a:t>
            </a:r>
            <a:endParaRPr sz="800" b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defRPr sz="68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endParaRPr sz="80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陈卓凡 · 校准拒答</a:t>
            </a:r>
            <a:r>
              <a:rPr lang="zh-CN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实现</a:t>
            </a:r>
            <a:endParaRPr lang="zh-CN" sz="27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521208" y="969264"/>
            <a:ext cx="1116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目标：从上一部分工作中提取关键特征</a:t>
            </a:r>
            <a:r>
              <a:rPr lang="en-US" alt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并根据该特征实现校准</a:t>
            </a:r>
            <a:r>
              <a:rPr lang="en-US" alt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（calibration)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与拒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答</a:t>
            </a:r>
            <a:endParaRPr lang="zh-CN" altLang="en-US" sz="150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189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21208" y="173418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521208" y="173418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01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0" name="TextBox 9"/>
          <p:cNvSpPr/>
          <p:nvPr/>
        </p:nvSpPr>
        <p:spPr>
          <a:xfrm>
            <a:off x="1064133" y="1847183"/>
            <a:ext cx="10326624" cy="349282"/>
          </a:xfrm>
          <a:prstGeom prst="rect">
            <a:avLst/>
          </a:prstGeom>
          <a:noFill/>
          <a:ln>
            <a:noFill/>
          </a:ln>
        </p:spPr>
        <p:txBody>
          <a:bodyPr wrap="none" lIns="0" tIns="38762" rIns="0" bIns="0" anchor="t" anchorCtr="0">
            <a:noAutofit/>
          </a:bodyPr>
          <a:lstStyle/>
          <a:p>
            <a:pPr algn="l"/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2026.9.20-9.30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｜调研相关论文，确定主要实现路线。</a:t>
            </a:r>
            <a:endParaRPr lang="zh-CN" sz="13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9189" y="2469007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3"/>
            </p:custDataLst>
          </p:nvPr>
        </p:nvSpPr>
        <p:spPr>
          <a:xfrm>
            <a:off x="515493" y="258787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515493" y="258787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02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1064133" y="2668143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426" rIns="0" bIns="0" anchor="t" anchorCtr="0">
            <a:noAutofit/>
          </a:bodyPr>
          <a:lstStyle/>
          <a:p>
            <a:pPr algn="l"/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2026.10.8-10.15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确认要从上一部分</a:t>
            </a:r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RAG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reranker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等部分提取什么特征（feature）,并设计从这些特征到模型不确定度（</a:t>
            </a:r>
            <a:r>
              <a:rPr lang="en-US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uncertainty)</a:t>
            </a:r>
            <a:r>
              <a:rPr lang="zh-CN" sz="13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的映射</a:t>
            </a:r>
            <a:endParaRPr lang="zh-CN" sz="13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9189" y="3163951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515493" y="3282823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515493" y="328282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03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18" name="TextBox 17"/>
          <p:cNvSpPr/>
          <p:nvPr>
            <p:custDataLst>
              <p:tags r:id="rId7"/>
            </p:custDataLst>
          </p:nvPr>
        </p:nvSpPr>
        <p:spPr>
          <a:xfrm>
            <a:off x="1064133" y="3363119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2026.10.16-10.20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利用开源数据（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CMB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等）构造校准集，即让模型回答数据集中的问题并记录准确率和不确定度。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/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9189" y="3858894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8"/>
            </p:custDataLst>
          </p:nvPr>
        </p:nvSpPr>
        <p:spPr>
          <a:xfrm>
            <a:off x="515493" y="397776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9"/>
            </p:custDataLst>
          </p:nvPr>
        </p:nvSpPr>
        <p:spPr>
          <a:xfrm>
            <a:off x="515493" y="39777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04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22" name="TextBox 21"/>
          <p:cNvSpPr/>
          <p:nvPr>
            <p:custDataLst>
              <p:tags r:id="rId10"/>
            </p:custDataLst>
          </p:nvPr>
        </p:nvSpPr>
        <p:spPr>
          <a:xfrm>
            <a:off x="1064133" y="3957733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2026.10.21-10.25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采用 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统计建模——构造安全上界（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upper bound)——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选择最大安全阈值（</a:t>
            </a:r>
            <a:r>
              <a:rPr lang="en-US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threshold) </a:t>
            </a:r>
            <a:endParaRPr lang="en-US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/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的方法实现不确定度的校准，并根据 该不确定度判断是否进行拒答。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9189" y="455383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1"/>
            </p:custDataLst>
          </p:nvPr>
        </p:nvSpPr>
        <p:spPr>
          <a:xfrm>
            <a:off x="515493" y="467271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515493" y="467271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Wonder Sans Bold" panose="00000500000000000000" charset="0"/>
                <a:ea typeface="Wonder Sans Bold" panose="00000500000000000000" charset="0"/>
                <a:cs typeface="Wonder Sans Bold" panose="00000500000000000000" charset="0"/>
              </a:rPr>
              <a:t>05</a:t>
            </a:r>
            <a:endParaRPr sz="1300" b="1">
              <a:solidFill>
                <a:srgbClr val="FFFFFF"/>
              </a:solidFill>
              <a:latin typeface="Wonder Sans Bold" panose="00000500000000000000" charset="0"/>
              <a:ea typeface="Wonder Sans Bold" panose="00000500000000000000" charset="0"/>
              <a:cs typeface="Wonder Sans Bold" panose="00000500000000000000" charset="0"/>
            </a:endParaRPr>
          </a:p>
        </p:txBody>
      </p:sp>
      <p:sp>
        <p:nvSpPr>
          <p:cNvPr id="26" name="TextBox 25"/>
          <p:cNvSpPr/>
          <p:nvPr>
            <p:custDataLst>
              <p:tags r:id="rId13"/>
            </p:custDataLst>
          </p:nvPr>
        </p:nvSpPr>
        <p:spPr>
          <a:xfrm>
            <a:off x="1064133" y="4651461"/>
            <a:ext cx="10326624" cy="415576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2026.10.26-11.1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再利用第一位同学构造好的验证集进行测试，统计拒答率与准确率。</a:t>
            </a:r>
            <a:endParaRPr lang="zh-CN" altLang="en-US" sz="13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505714" y="5832856"/>
            <a:ext cx="1116482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endParaRPr lang="zh-CN" sz="120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Text Box 34"/>
          <p:cNvSpPr/>
          <p:nvPr/>
        </p:nvSpPr>
        <p:spPr>
          <a:xfrm>
            <a:off x="512064" y="5385816"/>
            <a:ext cx="11164824" cy="713232"/>
          </a:xfrm>
          <a:prstGeom prst="rect">
            <a:avLst/>
          </a:prstGeom>
          <a:noFill/>
          <a:ln>
            <a:noFill/>
          </a:ln>
        </p:spPr>
        <p:txBody>
          <a:bodyPr wrap="none" lIns="137160" tIns="32956" rIns="0" bIns="0" anchor="t" anchorCtr="0">
            <a:noAutofit/>
          </a:bodyPr>
          <a:lstStyle/>
          <a:p>
            <a:pPr algn="l">
              <a:lnSpc>
                <a:spcPts val="1275"/>
              </a:lnSpc>
            </a:pPr>
            <a:r>
              <a:rPr lang="zh-CN" sz="1050" dirty="0">
                <a:solidFill>
                  <a:srgbClr val="6B7280"/>
                </a:solidFill>
                <a:latin typeface="等线"/>
                <a:ea typeface="Microsoft YaHei"/>
                <a:cs typeface="等线"/>
              </a:rPr>
              <a:t>参考文献：Wang, Z., Duan, J., Wang, Q., Zhu, X., Chen, T., Shi, X., &amp; Xu, K. (2026).</a:t>
            </a:r>
            <a:br>
              <a:rPr lang="zh-CN" sz="1050" dirty="0">
                <a:solidFill>
                  <a:srgbClr val="6B7280"/>
                </a:solidFill>
                <a:latin typeface="等线"/>
                <a:ea typeface="Microsoft YaHei"/>
                <a:cs typeface="等线"/>
              </a:rPr>
            </a:br>
            <a:r>
              <a:rPr lang="en-US" sz="1050" dirty="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COIN: Uncertainty-Guarding Selective Question Answering for Foundation Models with Provable Risk Guarantees.</a:t>
            </a:r>
            <a:br>
              <a:rPr lang="en-US" sz="1050" dirty="0">
                <a:solidFill>
                  <a:srgbClr val="6B7280"/>
                </a:solidFill>
                <a:latin typeface="等线"/>
                <a:ea typeface="等线"/>
                <a:cs typeface="等线"/>
              </a:rPr>
            </a:br>
            <a:r>
              <a:rPr lang="en-US" sz="1050" dirty="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Proceedings of the AAAI Conference on Artificial Intelligence, 40(40), 33764–33772. https://doi.org/10.1609/aaai.v40i40.40667</a:t>
            </a:r>
            <a:endParaRPr lang="en-US" sz="1050" dirty="0">
              <a:solidFill>
                <a:srgbClr val="6B7280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altLang="en-US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王煜杰</a:t>
            </a:r>
            <a:r>
              <a:rPr lang="zh-CN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系统测试、网页演示与交付</a:t>
            </a:r>
            <a:endParaRPr lang="zh-CN" sz="27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521208" y="969264"/>
            <a:ext cx="11164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目标：把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前三位同学的成果集合</a:t>
            </a:r>
            <a:r>
              <a:rPr 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成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为</a:t>
            </a:r>
            <a:r>
              <a:rPr lang="zh-CN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可运行、可复现的网页系统</a:t>
            </a:r>
            <a:r>
              <a:rPr lang="zh-CN" altLang="en-US" sz="15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，并进行最终交付</a:t>
            </a:r>
            <a:endParaRPr lang="zh-CN" sz="150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664208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58368" y="17830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58368" y="1783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9"/>
          <p:cNvSpPr/>
          <p:nvPr>
            <p:custDataLst>
              <p:tags r:id="rId3"/>
            </p:custDataLst>
          </p:nvPr>
        </p:nvSpPr>
        <p:spPr>
          <a:xfrm>
            <a:off x="1207008" y="1872472"/>
            <a:ext cx="10332720" cy="278416"/>
          </a:xfrm>
          <a:prstGeom prst="rect">
            <a:avLst/>
          </a:prstGeom>
          <a:noFill/>
          <a:ln>
            <a:noFill/>
          </a:ln>
        </p:spPr>
        <p:txBody>
          <a:bodyPr wrap="none" lIns="0" tIns="38667" rIns="0" bIns="0" anchor="t" anchorCtr="0">
            <a:noAutofit/>
          </a:bodyPr>
          <a:lstStyle/>
          <a:p>
            <a:pPr algn="l">
              <a:lnSpc>
                <a:spcPts val="1455"/>
              </a:lnSpc>
            </a:pPr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2026.9.20-9.30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确定 CMB/CMExam 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检测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集，固定语料与测试集，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避免造成数据泄露；用 </a:t>
            </a:r>
            <a:r>
              <a:rPr lang="en-US" alt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Python 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编写统一评测脚本，确定输出各项指标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。</a:t>
            </a:r>
            <a:endParaRPr lang="zh-CN" sz="13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2064" y="2359152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658368" y="2478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658368" y="2478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3"/>
          <p:cNvSpPr/>
          <p:nvPr>
            <p:custDataLst>
              <p:tags r:id="rId6"/>
            </p:custDataLst>
          </p:nvPr>
        </p:nvSpPr>
        <p:spPr>
          <a:xfrm>
            <a:off x="1207008" y="2558320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基线与消融｜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固定模型、提示词和测试集，依次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引入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无 RAG、稠密检索、BM25、混合检索、重排、父子检索、引用核验和拒答。</a:t>
            </a:r>
            <a:endParaRPr lang="zh-CN" sz="13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2064" y="3054096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658368" y="31729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658368" y="3172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7"/>
          <p:cNvSpPr/>
          <p:nvPr>
            <p:custDataLst>
              <p:tags r:id="rId9"/>
            </p:custDataLst>
          </p:nvPr>
        </p:nvSpPr>
        <p:spPr>
          <a:xfrm>
            <a:off x="1207008" y="3253264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2026.10.8-10.25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接入</a:t>
            </a:r>
            <a:r>
              <a:rPr lang="en-US" alt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统计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各组准确率、引用命中率、拒答率、误拒率、响应时延和 Token，用 JSON 保存结果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，并输出消融测试对比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。</a:t>
            </a:r>
            <a:endParaRPr lang="zh-CN" sz="13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2064" y="3749039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658368" y="3867911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658368" y="386791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1"/>
          <p:cNvSpPr/>
          <p:nvPr>
            <p:custDataLst>
              <p:tags r:id="rId12"/>
            </p:custDataLst>
          </p:nvPr>
        </p:nvSpPr>
        <p:spPr>
          <a:xfrm>
            <a:off x="1207008" y="3948208"/>
            <a:ext cx="10332720" cy="223552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网页系统｜</a:t>
            </a:r>
            <a:r>
              <a:rPr lang="zh-CN" altLang="en-US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联合前后端网页，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前端用 Vue 3 展示对话、证据片段和出处；后端用 Python FastAPI 连接检索、</a:t>
            </a:r>
            <a:r>
              <a:rPr lang="en-US" alt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DeepSeek API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</a:t>
            </a:r>
            <a:r>
              <a:rPr 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与引用核验。</a:t>
            </a:r>
            <a:endParaRPr lang="zh-CN" sz="13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2064" y="4443983"/>
            <a:ext cx="11164824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3"/>
            </p:custDataLst>
          </p:nvPr>
        </p:nvSpPr>
        <p:spPr>
          <a:xfrm>
            <a:off x="658368" y="4562855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4"/>
            </p:custDataLst>
          </p:nvPr>
        </p:nvSpPr>
        <p:spPr>
          <a:xfrm>
            <a:off x="658368" y="45628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TextBox 25"/>
          <p:cNvSpPr/>
          <p:nvPr>
            <p:custDataLst>
              <p:tags r:id="rId15"/>
            </p:custDataLst>
          </p:nvPr>
        </p:nvSpPr>
        <p:spPr>
          <a:xfrm>
            <a:off x="1207008" y="4541606"/>
            <a:ext cx="10326624" cy="415576"/>
          </a:xfrm>
          <a:prstGeom prst="rect">
            <a:avLst/>
          </a:prstGeom>
          <a:noFill/>
          <a:ln>
            <a:noFill/>
          </a:ln>
        </p:spPr>
        <p:txBody>
          <a:bodyPr wrap="none" lIns="0" tIns="19331" rIns="0" bIns="0" anchor="t" anchorCtr="0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2026.10.26-11.7</a:t>
            </a:r>
            <a:r>
              <a:rPr lang="zh-CN" sz="13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｜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全链路验收，从用户提问开始，检查是否找到合适证据，回答是否只使用证据，引用是否能回到原文，证据不足时是否正</a:t>
            </a:r>
            <a:endParaRPr lang="en-US" altLang="zh-CN" sz="13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/>
            <a:r>
              <a:rPr lang="en-US" altLang="zh-CN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                          </a:t>
            </a:r>
            <a:r>
              <a:rPr lang="zh-CN" altLang="en-US" sz="13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确拒答，并记录完整日志。</a:t>
            </a:r>
            <a:endParaRPr lang="zh-CN" sz="13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512064" y="5157216"/>
            <a:ext cx="1116482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先定测试集和指标，再完成消融对比，随后联调</a:t>
            </a:r>
            <a:r>
              <a:rPr lang="zh-CN" altLang="en-US" sz="12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制作前后端</a:t>
            </a:r>
            <a:r>
              <a:rPr lang="zh-CN" sz="120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，最后完成全链路验收与现场演示。</a:t>
            </a:r>
            <a:endParaRPr lang="zh-CN" sz="120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TextBox 27"/>
          <p:cNvSpPr/>
          <p:nvPr/>
        </p:nvSpPr>
        <p:spPr>
          <a:xfrm>
            <a:off x="512064" y="57790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45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最终集成交付</a:t>
            </a:r>
            <a:endParaRPr lang="zh-CN" sz="145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2064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/>
          <p:nvPr/>
        </p:nvSpPr>
        <p:spPr>
          <a:xfrm>
            <a:off x="649224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315"/>
              </a:lnSpc>
            </a:pPr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评测脚本</a:t>
            </a:r>
            <a:endParaRPr lang="zh-CN" sz="12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</a:pPr>
            <a:r>
              <a:rPr lang="zh-CN" sz="1050" b="1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统一运行评测脚本与消融实验</a:t>
            </a:r>
            <a:endParaRPr lang="zh-CN" sz="1050" b="1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293108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/>
          <p:nvPr/>
        </p:nvSpPr>
        <p:spPr>
          <a:xfrm>
            <a:off x="4430268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315"/>
              </a:lnSpc>
            </a:pPr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Web 演示</a:t>
            </a:r>
            <a:endParaRPr lang="zh-CN" sz="12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</a:pPr>
            <a:r>
              <a:rPr lang="zh-CN" sz="1050" b="1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消融结果、证据片段与拒答原因</a:t>
            </a:r>
            <a:endParaRPr lang="zh-CN" sz="1050" b="1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074152" y="6144768"/>
            <a:ext cx="36027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/>
          <p:nvPr/>
        </p:nvSpPr>
        <p:spPr>
          <a:xfrm>
            <a:off x="8211312" y="620877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315"/>
              </a:lnSpc>
            </a:pPr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配置记录</a:t>
            </a:r>
            <a:endParaRPr lang="zh-CN" sz="12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315"/>
              </a:lnSpc>
            </a:pPr>
            <a:r>
              <a:rPr lang="zh-CN" sz="1050" b="1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数据、模型、提示词、检索参数与消融结果</a:t>
            </a:r>
            <a:endParaRPr lang="zh-CN" sz="1050" b="1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011680" cy="201168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/>
        </p:nvSpPr>
        <p:spPr>
          <a:xfrm>
            <a:off x="512064" y="329184"/>
            <a:ext cx="11164824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altLang="en-US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王煜杰</a:t>
            </a:r>
            <a:r>
              <a:rPr lang="zh-CN" sz="27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全链路验收与最终交付</a:t>
            </a:r>
            <a:endParaRPr lang="zh-CN" sz="27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521208" y="969264"/>
            <a:ext cx="11164824" cy="2317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最终要求：过程可查看，结果可复现，课堂上可以现场演示</a:t>
            </a:r>
            <a:endParaRPr lang="zh-CN" sz="135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389888"/>
            <a:ext cx="11164824" cy="14630"/>
          </a:xfrm>
          <a:prstGeom prst="rect">
            <a:avLst/>
          </a:prstGeom>
          <a:solidFill>
            <a:srgbClr val="10B98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/>
        </p:nvSpPr>
        <p:spPr>
          <a:xfrm>
            <a:off x="512064" y="1600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marL="124460" indent="-124460" algn="l">
              <a:buClr>
                <a:srgbClr val="10B981"/>
              </a:buClr>
              <a:buSzTx/>
              <a:buFontTx/>
              <a:buChar char="■"/>
            </a:pPr>
            <a:r>
              <a:rPr lang="zh-CN" sz="15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最终验收要求</a:t>
            </a:r>
            <a:endParaRPr lang="zh-CN" sz="15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512064" y="1965960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640080" y="21305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40080" y="21305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zh-CN" altLang="en-US"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0"/>
          <p:cNvSpPr/>
          <p:nvPr/>
        </p:nvSpPr>
        <p:spPr>
          <a:xfrm>
            <a:off x="1170432" y="1965960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none" lIns="0" tIns="268986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测试可复现｜</a:t>
            </a: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固定数据、参数和测试集后，一键运行检索、生成、引用和拒答测试。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4"/>
            </p:custDataLst>
          </p:nvPr>
        </p:nvSpPr>
        <p:spPr>
          <a:xfrm>
            <a:off x="512064" y="2752344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640080" y="291693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640080" y="29169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zh-CN" altLang="en-US"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4"/>
          <p:cNvSpPr/>
          <p:nvPr/>
        </p:nvSpPr>
        <p:spPr>
          <a:xfrm>
            <a:off x="1170432" y="2752344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none" lIns="0" tIns="268986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配置可追踪｜</a:t>
            </a: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记录语料、索引、模型、提示词和关键参数，便于复现实验结果。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7"/>
            </p:custDataLst>
          </p:nvPr>
        </p:nvSpPr>
        <p:spPr>
          <a:xfrm>
            <a:off x="512064" y="3538727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8"/>
            </p:custDataLst>
          </p:nvPr>
        </p:nvSpPr>
        <p:spPr>
          <a:xfrm>
            <a:off x="640080" y="37033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640080" y="3703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zh-CN" altLang="en-US"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8"/>
          <p:cNvSpPr/>
          <p:nvPr/>
        </p:nvSpPr>
        <p:spPr>
          <a:xfrm>
            <a:off x="1170432" y="3538728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none" lIns="0" tIns="268986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现场可演示｜</a:t>
            </a: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Vue 页面展示问题、证据片段、回答、引用链接和拒答原因。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10"/>
            </p:custDataLst>
          </p:nvPr>
        </p:nvSpPr>
        <p:spPr>
          <a:xfrm>
            <a:off x="512064" y="4325112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1"/>
            </p:custDataLst>
          </p:nvPr>
        </p:nvSpPr>
        <p:spPr>
          <a:xfrm>
            <a:off x="640080" y="4489703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640080" y="448970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zh-CN" altLang="en-US"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1170432" y="4325112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none" lIns="0" tIns="268986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问题可定位｜</a:t>
            </a: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用请求日志区分数据、检索、生成、引用核验和前端展示问题。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3"/>
            </p:custDataLst>
          </p:nvPr>
        </p:nvSpPr>
        <p:spPr>
          <a:xfrm>
            <a:off x="512064" y="5111496"/>
            <a:ext cx="6126480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4"/>
            </p:custDataLst>
          </p:nvPr>
        </p:nvSpPr>
        <p:spPr>
          <a:xfrm>
            <a:off x="640080" y="527608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64008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zh-CN" altLang="en-US" sz="13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1170432" y="5111496"/>
            <a:ext cx="5349240" cy="713232"/>
          </a:xfrm>
          <a:prstGeom prst="rect">
            <a:avLst/>
          </a:prstGeom>
          <a:noFill/>
          <a:ln>
            <a:noFill/>
          </a:ln>
        </p:spPr>
        <p:txBody>
          <a:bodyPr wrap="none" lIns="0" tIns="268986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交付完整｜</a:t>
            </a: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提交代码、依赖安装说明、演示脚本、实验报告和汇报材料。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TextBox 27"/>
          <p:cNvSpPr/>
          <p:nvPr/>
        </p:nvSpPr>
        <p:spPr>
          <a:xfrm>
            <a:off x="6821424" y="1600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marL="124460" indent="-124460" algn="l">
              <a:buClr>
                <a:srgbClr val="10B981"/>
              </a:buClr>
              <a:buSzTx/>
              <a:buFontTx/>
              <a:buChar char="■"/>
            </a:pPr>
            <a:r>
              <a:rPr lang="zh-CN" sz="1500" b="1" dirty="0">
                <a:solidFill>
                  <a:srgbClr val="1F293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最终交付包</a:t>
            </a:r>
            <a:endParaRPr lang="zh-CN" sz="1500" b="1" dirty="0">
              <a:solidFill>
                <a:srgbClr val="1F293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21424" y="1965960"/>
            <a:ext cx="4855464" cy="269748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/>
          <p:nvPr/>
        </p:nvSpPr>
        <p:spPr>
          <a:xfrm>
            <a:off x="7022592" y="2130552"/>
            <a:ext cx="4453128" cy="2368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marL="135890" indent="-135890" algn="l">
              <a:lnSpc>
                <a:spcPts val="1800"/>
              </a:lnSpc>
              <a:buClr>
                <a:srgbClr val="10B981"/>
              </a:buClr>
              <a:buSzTx/>
              <a:buFontTx/>
              <a:buChar char="•"/>
            </a:pP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可运行代码与</a:t>
            </a:r>
            <a:r>
              <a:rPr lang="zh-CN" altLang="en-US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使用</a:t>
            </a: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说明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135890" indent="-135890" algn="l">
              <a:lnSpc>
                <a:spcPts val="1800"/>
              </a:lnSpc>
              <a:spcBef>
                <a:spcPts val="400"/>
              </a:spcBef>
              <a:buClr>
                <a:srgbClr val="10B981"/>
              </a:buClr>
              <a:buSzTx/>
              <a:buFontTx/>
              <a:buChar char="•"/>
            </a:pP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评测结果、消融分析与请求日志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135890" indent="-135890" algn="l">
              <a:lnSpc>
                <a:spcPts val="1800"/>
              </a:lnSpc>
              <a:spcBef>
                <a:spcPts val="400"/>
              </a:spcBef>
              <a:buClr>
                <a:srgbClr val="10B981"/>
              </a:buClr>
              <a:buSzTx/>
              <a:buFontTx/>
              <a:buChar char="•"/>
            </a:pP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Web 演示与演示脚本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135890" indent="-135890" algn="l">
              <a:lnSpc>
                <a:spcPts val="1800"/>
              </a:lnSpc>
              <a:spcBef>
                <a:spcPts val="400"/>
              </a:spcBef>
              <a:buClr>
                <a:srgbClr val="10B981"/>
              </a:buClr>
              <a:buSzTx/>
              <a:buFontTx/>
              <a:buChar char="•"/>
            </a:pPr>
            <a:r>
              <a:rPr lang="zh-CN" sz="12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技术报告与最终汇报材料</a:t>
            </a:r>
            <a:endParaRPr lang="zh-CN" sz="12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TextBox 30"/>
          <p:cNvSpPr/>
          <p:nvPr/>
        </p:nvSpPr>
        <p:spPr>
          <a:xfrm>
            <a:off x="6821424" y="4846320"/>
            <a:ext cx="485546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性能记录：响应时延、Token、准确率、引用命中率和拒答统计</a:t>
            </a:r>
            <a:endParaRPr lang="zh-CN" sz="1050" dirty="0">
              <a:solidFill>
                <a:srgbClr val="6B728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12064" y="5806440"/>
            <a:ext cx="11164824" cy="868680"/>
          </a:xfrm>
          <a:prstGeom prst="rect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/>
          <p:nvPr/>
        </p:nvSpPr>
        <p:spPr>
          <a:xfrm>
            <a:off x="786384" y="6014085"/>
            <a:ext cx="10607040" cy="453390"/>
          </a:xfrm>
          <a:prstGeom prst="rect">
            <a:avLst/>
          </a:prstGeom>
          <a:noFill/>
          <a:ln>
            <a:noFill/>
          </a:ln>
        </p:spPr>
        <p:txBody>
          <a:bodyPr wrap="none" lIns="0" tIns="36009" rIns="0" bIns="0" anchor="t" anchorCtr="0">
            <a:noAutofit/>
          </a:bodyPr>
          <a:lstStyle/>
          <a:p>
            <a:pPr algn="l">
              <a:lnSpc>
                <a:spcPts val="1610"/>
              </a:lnSpc>
            </a:pPr>
            <a:r>
              <a:rPr lang="zh-CN" sz="1250" dirty="0">
                <a:solidFill>
                  <a:srgbClr val="37415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问题处理：先根据日志定位模块，再由对应负责人修复并重新运行测试。</a:t>
            </a:r>
            <a:endParaRPr lang="zh-CN" sz="1250" dirty="0">
              <a:solidFill>
                <a:srgbClr val="37415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ts val="1610"/>
              </a:lnSpc>
            </a:pPr>
            <a:r>
              <a:rPr lang="zh-CN" sz="1100" b="1" dirty="0">
                <a:solidFill>
                  <a:srgbClr val="10B9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验收重点｜</a:t>
            </a:r>
            <a:r>
              <a:rPr lang="zh-CN" sz="1100" b="1" dirty="0">
                <a:solidFill>
                  <a:srgbClr val="4B556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页面展示必须与后端真实结果一致，数据、检索和生成问题分别记录。</a:t>
            </a:r>
            <a:endParaRPr lang="zh-CN" sz="1100" b="1" dirty="0">
              <a:solidFill>
                <a:srgbClr val="4B556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2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3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4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5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6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7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8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9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0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1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2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3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4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5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6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7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8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19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20.xml><?xml version="1.0" encoding="utf-8"?>
<p:tagLst xmlns:p="http://schemas.openxmlformats.org/presentationml/2006/main">
  <p:tag name="KSO_WM_DIAGRAM_VIRTUALLY_FRAME" val="{&quot;height&quot;:210.24,&quot;left&quot;:40.32,&quot;top&quot;:133.2,&quot;width&quot;:715.6800000000001}"/>
</p:tagLst>
</file>

<file path=ppt/tags/tag21.xml><?xml version="1.0" encoding="utf-8"?>
<p:tagLst xmlns:p="http://schemas.openxmlformats.org/presentationml/2006/main">
  <p:tag name="KSO_WM_DIAGRAM_VIRTUALLY_FRAME" val="{&quot;height&quot;:56.57999999999993,&quot;left&quot;:45.72,&quot;top&quot;:445.7,&quot;width&quot;:879.1200000000001}"/>
</p:tagLst>
</file>

<file path=ppt/tags/tag22.xml><?xml version="1.0" encoding="utf-8"?>
<p:tagLst xmlns:p="http://schemas.openxmlformats.org/presentationml/2006/main">
  <p:tag name="KSO_WM_DIAGRAM_VIRTUALLY_FRAME" val="{&quot;height&quot;:56.57999999999993,&quot;left&quot;:45.72,&quot;top&quot;:445.7,&quot;width&quot;:879.1200000000001}"/>
</p:tagLst>
</file>

<file path=ppt/tags/tag23.xml><?xml version="1.0" encoding="utf-8"?>
<p:tagLst xmlns:p="http://schemas.openxmlformats.org/presentationml/2006/main">
  <p:tag name="KSO_WM_DIAGRAM_VIRTUALLY_FRAME" val="{&quot;height&quot;:56.57999999999993,&quot;left&quot;:45.72,&quot;top&quot;:445.7,&quot;width&quot;:879.1200000000001}"/>
</p:tagLst>
</file>

<file path=ppt/tags/tag24.xml><?xml version="1.0" encoding="utf-8"?>
<p:tagLst xmlns:p="http://schemas.openxmlformats.org/presentationml/2006/main">
  <p:tag name="KSO_WM_DIAGRAM_VIRTUALLY_FRAME" val="{&quot;height&quot;:56.57999999999993,&quot;left&quot;:45.72,&quot;top&quot;:445.7,&quot;width&quot;:879.1200000000001}"/>
</p:tagLst>
</file>

<file path=ppt/tags/tag25.xml><?xml version="1.0" encoding="utf-8"?>
<p:tagLst xmlns:p="http://schemas.openxmlformats.org/presentationml/2006/main">
  <p:tag name="KSO_WM_DIAGRAM_VIRTUALLY_FRAME" val="{&quot;height&quot;:56.57999999999993,&quot;left&quot;:45.72,&quot;top&quot;:445.7,&quot;width&quot;:879.1200000000001}"/>
</p:tagLst>
</file>

<file path=ppt/tags/tag26.xml><?xml version="1.0" encoding="utf-8"?>
<p:tagLst xmlns:p="http://schemas.openxmlformats.org/presentationml/2006/main">
  <p:tag name="KSO_WM_DIAGRAM_VIRTUALLY_FRAME" val="{&quot;height&quot;:56.57999999999993,&quot;left&quot;:45.72,&quot;top&quot;:445.7,&quot;width&quot;:879.1200000000001}"/>
</p:tagLst>
</file>

<file path=ppt/tags/tag27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28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29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0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4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5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6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7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8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39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0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4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5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6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7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8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49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0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1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2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3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4.xml><?xml version="1.0" encoding="utf-8"?>
<p:tagLst xmlns:p="http://schemas.openxmlformats.org/presentationml/2006/main">
  <p:tag name="KSO_WM_DIAGRAM_VIRTUALLY_FRAME" val="{&quot;height&quot;:251.6024409448819,&quot;left&quot;:51.839999999999996,&quot;top&quot;:137.91748031496064,&quot;width&quot;:856.8}"/>
</p:tagLst>
</file>

<file path=ppt/tags/tag55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56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57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58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59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0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1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2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3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4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5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6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7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8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ags/tag69.xml><?xml version="1.0" encoding="utf-8"?>
<p:tagLst xmlns:p="http://schemas.openxmlformats.org/presentationml/2006/main">
  <p:tag name="KSO_WM_DIAGRAM_VIRTUALLY_FRAME" val="{&quot;height&quot;:303.84,&quot;left&quot;:40.32,&quot;top&quot;:154.8,&quot;width&quot;:482.4}"/>
</p:tagLst>
</file>

<file path=ppt/theme/theme1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3981</Words>
  <Application>WPS Docs</Application>
  <PresentationFormat>Converted Presentation</PresentationFormat>
  <Paragraphs>313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9</vt:i4>
      </vt:variant>
    </vt:vector>
  </HeadingPairs>
  <TitlesOfParts>
    <vt:vector size="38" baseType="lpstr">
      <vt:lpstr>Arial</vt:lpstr>
      <vt:lpstr>SimSun</vt:lpstr>
      <vt:lpstr>Wingdings</vt:lpstr>
      <vt:lpstr>Arial</vt:lpstr>
      <vt:lpstr>Microsoft YaHei</vt:lpstr>
      <vt:lpstr>仿宋</vt:lpstr>
      <vt:lpstr>仿宋-简</vt:lpstr>
      <vt:lpstr>Noto Sans SC</vt:lpstr>
      <vt:lpstr>冬青黑体简体中文</vt:lpstr>
      <vt:lpstr>方正雅意黑 GB18030L2</vt:lpstr>
      <vt:lpstr>Wonder Sans Bold</vt:lpstr>
      <vt:lpstr>Microsoft YaHei</vt:lpstr>
      <vt:lpstr>等线</vt:lpstr>
      <vt:lpstr>汉仪中等线KW</vt:lpstr>
      <vt:lpstr>Arial Unicode MS</vt:lpstr>
      <vt:lpstr>等线 Light</vt:lpstr>
      <vt:lpstr>SimSun</vt:lpstr>
      <vt:lpstr>汉仪书宋二KW</vt:lpstr>
      <vt:lpstr>Calibri</vt:lpstr>
      <vt:lpstr>Helvetica Neue</vt:lpstr>
      <vt:lpstr>Microsoft YaHei</vt:lpstr>
      <vt:lpstr>Noto Sans SC</vt:lpstr>
      <vt:lpstr>等线</vt:lpstr>
      <vt:lpstr>苹方-简</vt:lpstr>
      <vt:lpstr>Office 主题​​</vt:lpstr>
      <vt:lpstr>3_Office 主题​​</vt:lpstr>
      <vt:lpstr>Office 主题​​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陈卓凡</cp:lastModifiedBy>
  <cp:revision>8</cp:revision>
  <dcterms:created xsi:type="dcterms:W3CDTF">2026-09-28T00:57:51Z</dcterms:created>
  <dcterms:modified xsi:type="dcterms:W3CDTF">2026-09-28T00:57:51Z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5E9171AB3690FE608FBBB96AADE9AACF_43</vt:lpwstr>
  </property>
</Properties>
</file>