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C28"/>
          </a:solidFill>
          <a:ln w="635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可信医疗问答系统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8105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5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四人分工与两个月计划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23225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课程项目汇报｜初学者版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" y="2834640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54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项目目标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511296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从可靠医疗资料中找到原文，生成带出处的回答；资料不足时，明确提示无法可靠回答。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547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仅用于课程和工程练习，不用于真实诊断、治疗或用药建议。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1078992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EAF2FF"/>
          </a:solidFill>
          <a:ln w="635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可信回答的四个要点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10144" y="20299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49056" y="202996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可靠资料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49056" y="2304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指南、共识、教材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10144" y="278892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49056" y="278892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找到原文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49056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先检索再回答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10144" y="35478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49056" y="354787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给出引用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49056" y="3822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每个结论可回查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10144" y="430682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49056" y="430682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必要时拒答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49056" y="45811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资料不足不编造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" y="651052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6539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可信医疗问答系统｜四人分工与两个月计划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项目目标与使用边界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系统的工作方式决定了每个人要交付什么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96012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51052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可信医疗问答系统｜四人分工与两个月计划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3504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系统工作流程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" y="1874520"/>
            <a:ext cx="1691640" cy="1042416"/>
          </a:xfrm>
          <a:prstGeom prst="roundRect">
            <a:avLst>
              <a:gd name="adj" fmla="val 4386"/>
            </a:avLst>
          </a:prstGeom>
          <a:solidFill>
            <a:srgbClr val="EAF2FF"/>
          </a:solidFill>
          <a:ln w="635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1874520"/>
            <a:ext cx="0" cy="1042416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0208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整理资料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" y="235915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只纳入可追溯的指南、共识和教材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331720" y="2395728"/>
            <a:ext cx="512064" cy="0"/>
          </a:xfrm>
          <a:prstGeom prst="line">
            <a:avLst/>
          </a:prstGeom>
          <a:noFill/>
          <a:ln w="15240">
            <a:solidFill>
              <a:srgbClr val="1F5FB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16936" y="1874520"/>
            <a:ext cx="1691640" cy="1042416"/>
          </a:xfrm>
          <a:prstGeom prst="roundRect">
            <a:avLst>
              <a:gd name="adj" fmla="val 4386"/>
            </a:avLst>
          </a:prstGeom>
          <a:solidFill>
            <a:srgbClr val="EAF6F0"/>
          </a:solidFill>
          <a:ln w="6350">
            <a:solidFill>
              <a:srgbClr val="EAF6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16936" y="1874520"/>
            <a:ext cx="0" cy="1042416"/>
          </a:xfrm>
          <a:prstGeom prst="line">
            <a:avLst/>
          </a:prstGeom>
          <a:noFill/>
          <a:ln w="38100">
            <a:solidFill>
              <a:srgbClr val="2E7D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72384" y="20208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搜索原文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72384" y="235915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关键词与语义搜索同时找相关段落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645152" y="2395728"/>
            <a:ext cx="512064" cy="0"/>
          </a:xfrm>
          <a:prstGeom prst="line">
            <a:avLst/>
          </a:prstGeom>
          <a:noFill/>
          <a:ln w="15240">
            <a:solidFill>
              <a:srgbClr val="1F5FB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30368" y="1874520"/>
            <a:ext cx="1691640" cy="1042416"/>
          </a:xfrm>
          <a:prstGeom prst="roundRect">
            <a:avLst>
              <a:gd name="adj" fmla="val 4386"/>
            </a:avLst>
          </a:prstGeom>
          <a:solidFill>
            <a:srgbClr val="FFF4DD"/>
          </a:solidFill>
          <a:ln w="6350">
            <a:solidFill>
              <a:srgbClr val="FFF4D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874520"/>
            <a:ext cx="0" cy="1042416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85816" y="20208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生成回答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85816" y="235915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模型只能根据已找到的原文回答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958584" y="2395728"/>
            <a:ext cx="512064" cy="0"/>
          </a:xfrm>
          <a:prstGeom prst="line">
            <a:avLst/>
          </a:prstGeom>
          <a:noFill/>
          <a:ln w="15240">
            <a:solidFill>
              <a:srgbClr val="1F5FB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43800" y="1874520"/>
            <a:ext cx="1691640" cy="1042416"/>
          </a:xfrm>
          <a:prstGeom prst="roundRect">
            <a:avLst>
              <a:gd name="adj" fmla="val 4386"/>
            </a:avLst>
          </a:prstGeom>
          <a:solidFill>
            <a:srgbClr val="F3EEFB"/>
          </a:solidFill>
          <a:ln w="635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874520"/>
            <a:ext cx="0" cy="1042416"/>
          </a:xfrm>
          <a:prstGeom prst="line">
            <a:avLst/>
          </a:prstGeom>
          <a:noFill/>
          <a:ln w="38100">
            <a:solidFill>
              <a:srgbClr val="7756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20208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检查引用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99248" y="235915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关键结论必须有原文支持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9272016" y="2395728"/>
            <a:ext cx="512064" cy="0"/>
          </a:xfrm>
          <a:prstGeom prst="line">
            <a:avLst/>
          </a:prstGeom>
          <a:noFill/>
          <a:ln w="15240">
            <a:solidFill>
              <a:srgbClr val="1F5FB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57232" y="1874520"/>
            <a:ext cx="1691640" cy="1042416"/>
          </a:xfrm>
          <a:prstGeom prst="roundRect">
            <a:avLst>
              <a:gd name="adj" fmla="val 4386"/>
            </a:avLst>
          </a:prstGeom>
          <a:solidFill>
            <a:srgbClr val="FFF0ED"/>
          </a:solidFill>
          <a:ln w="635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57232" y="1874520"/>
            <a:ext cx="0" cy="1042416"/>
          </a:xfrm>
          <a:prstGeom prst="line">
            <a:avLst/>
          </a:prstGeom>
          <a:noFill/>
          <a:ln w="38100">
            <a:solidFill>
              <a:srgbClr val="B547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12680" y="20208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展示或拒答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12680" y="235915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证据不足时解释无法可靠回答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603504" y="3749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共同原则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03504" y="425196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7552" y="423367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不使用未授权资料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" y="45994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 负责记录来源、版本和许可情况。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425696" y="425196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9744" y="423367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不混入测试答案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09744" y="45994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 负责让测试题与资料库保持隔离。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47888" y="425196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31936" y="423367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不忽略失败案例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31936" y="45994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四人每周共同抽查“原文、搜索结果、回答”是否对应。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初学者需要认识的五个模块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先理解每个模块的作用，再开始分工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96012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51052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可信医疗问答系统｜四人分工与两个月计划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26464"/>
            <a:ext cx="2084832" cy="621792"/>
          </a:xfrm>
          <a:prstGeom prst="roundRect">
            <a:avLst>
              <a:gd name="adj" fmla="val 5882"/>
            </a:avLst>
          </a:prstGeom>
          <a:solidFill>
            <a:srgbClr val="EAF2FF"/>
          </a:solidFill>
          <a:ln w="635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910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54680" y="1517904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系统查阅的指南、专家共识和教材。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0352" y="2084832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286000"/>
            <a:ext cx="2084832" cy="621792"/>
          </a:xfrm>
          <a:prstGeom prst="roundRect">
            <a:avLst>
              <a:gd name="adj" fmla="val 5882"/>
            </a:avLst>
          </a:prstGeom>
          <a:solidFill>
            <a:srgbClr val="F6F9FD"/>
          </a:solidFill>
          <a:ln w="635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4505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54680" y="2377440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把长文切成可搜索的小段，并保留原文位置。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0352" y="294436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145536"/>
            <a:ext cx="2084832" cy="621792"/>
          </a:xfrm>
          <a:prstGeom prst="roundRect">
            <a:avLst>
              <a:gd name="adj" fmla="val 5882"/>
            </a:avLst>
          </a:prstGeom>
          <a:solidFill>
            <a:srgbClr val="EAF2FF"/>
          </a:solidFill>
          <a:ln w="635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310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54680" y="3236976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用户提问后，从资料中找最相关的小段。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0352" y="3803904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005072"/>
            <a:ext cx="2084832" cy="621792"/>
          </a:xfrm>
          <a:prstGeom prst="roundRect">
            <a:avLst>
              <a:gd name="adj" fmla="val 5882"/>
            </a:avLst>
          </a:prstGeom>
          <a:solidFill>
            <a:srgbClr val="F6F9FD"/>
          </a:solidFill>
          <a:ln w="635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169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引用核验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54680" y="4096512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检查回答中的关键结论是否真的由原文支持。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30352" y="4663440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864608"/>
            <a:ext cx="2084832" cy="621792"/>
          </a:xfrm>
          <a:prstGeom prst="roundRect">
            <a:avLst>
              <a:gd name="adj" fmla="val 5882"/>
            </a:avLst>
          </a:prstGeom>
          <a:solidFill>
            <a:srgbClr val="EAF2FF"/>
          </a:solidFill>
          <a:ln w="635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5029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154680" y="4956048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资料不足、条件不清或证据冲突时，不给具体结论。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30352" y="5522976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0" y="1417320"/>
            <a:ext cx="2240280" cy="4315968"/>
          </a:xfrm>
          <a:prstGeom prst="roundRect">
            <a:avLst>
              <a:gd name="adj" fmla="val 2857"/>
            </a:avLst>
          </a:prstGeom>
          <a:solidFill>
            <a:srgbClr val="FFF4DD"/>
          </a:solidFill>
          <a:ln w="6350">
            <a:solidFill>
              <a:srgbClr val="FFF4D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170078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推荐学习顺序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63456" y="23408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10928" y="22585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先看资料与原文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63456" y="31363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10928" y="30540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再运行搜索功能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63456" y="39319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10928" y="38496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最后学习回答、核验和拒答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四人的分工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每人有主责，也通过明确交接让其他成员可以继续工作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96012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51052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可信医疗问答系统｜四人分工与两个月计划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2648" y="1417320"/>
            <a:ext cx="10972800" cy="941832"/>
          </a:xfrm>
          <a:prstGeom prst="roundRect">
            <a:avLst>
              <a:gd name="adj" fmla="val 2913"/>
            </a:avLst>
          </a:prstGeom>
          <a:solidFill>
            <a:srgbClr val="EAF2FF"/>
          </a:solidFill>
          <a:ln w="635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417320"/>
            <a:ext cx="1371600" cy="941832"/>
          </a:xfrm>
          <a:prstGeom prst="roundRect">
            <a:avLst>
              <a:gd name="adj" fmla="val 2913"/>
            </a:avLst>
          </a:prstGeom>
          <a:solidFill>
            <a:srgbClr val="1F5FBF"/>
          </a:solidFill>
          <a:ln w="6350">
            <a:solidFill>
              <a:srgbClr val="1F5FB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563624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2376" y="186537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资料与质量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155448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整理可用医疗资料，记录来源和可靠性；切分长文，检查能否回到原文。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7863840" y="1563624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交给团队：资料包、来源表、小段数据、抽检记录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12648" y="2560320"/>
            <a:ext cx="10972800" cy="941832"/>
          </a:xfrm>
          <a:prstGeom prst="roundRect">
            <a:avLst>
              <a:gd name="adj" fmla="val 2913"/>
            </a:avLst>
          </a:prstGeom>
          <a:solidFill>
            <a:srgbClr val="EAF6F0"/>
          </a:solidFill>
          <a:ln w="6350">
            <a:solidFill>
              <a:srgbClr val="EAF6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" y="2560320"/>
            <a:ext cx="1371600" cy="941832"/>
          </a:xfrm>
          <a:prstGeom prst="roundRect">
            <a:avLst>
              <a:gd name="adj" fmla="val 2913"/>
            </a:avLst>
          </a:prstGeom>
          <a:solidFill>
            <a:srgbClr val="2E7D5B"/>
          </a:solidFill>
          <a:ln w="635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706624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" y="300837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搜索功能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269748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建立关键词与语义搜索，合并结果并把最相关的原文排在前面。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7863840" y="2706624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交给团队：输入问题后返回相关原文的功能和搜索记录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12648" y="3703320"/>
            <a:ext cx="10972800" cy="941832"/>
          </a:xfrm>
          <a:prstGeom prst="roundRect">
            <a:avLst>
              <a:gd name="adj" fmla="val 2913"/>
            </a:avLst>
          </a:prstGeom>
          <a:solidFill>
            <a:srgbClr val="FFF4DD"/>
          </a:solidFill>
          <a:ln w="6350">
            <a:solidFill>
              <a:srgbClr val="FFF4D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" y="3703320"/>
            <a:ext cx="1371600" cy="941832"/>
          </a:xfrm>
          <a:prstGeom prst="roundRect">
            <a:avLst>
              <a:gd name="adj" fmla="val 2913"/>
            </a:avLst>
          </a:prstGeom>
          <a:solidFill>
            <a:srgbClr val="F28C28"/>
          </a:solidFill>
          <a:ln w="635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849624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2376" y="415137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回答与可靠性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384048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让模型根据原文回答并标引用；判断关键句是否受原文支持；资料不足时拒答。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7863840" y="3849624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交给团队：回答格式、引用规则、核验和拒答逻辑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612648" y="4846320"/>
            <a:ext cx="10972800" cy="941832"/>
          </a:xfrm>
          <a:prstGeom prst="roundRect">
            <a:avLst>
              <a:gd name="adj" fmla="val 2913"/>
            </a:avLst>
          </a:prstGeom>
          <a:solidFill>
            <a:srgbClr val="F3EEFB"/>
          </a:solidFill>
          <a:ln w="635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4846320"/>
            <a:ext cx="1371600" cy="941832"/>
          </a:xfrm>
          <a:prstGeom prst="roundRect">
            <a:avLst>
              <a:gd name="adj" fmla="val 2913"/>
            </a:avLst>
          </a:prstGeom>
          <a:solidFill>
            <a:srgbClr val="7756A8"/>
          </a:solidFill>
          <a:ln w="6350">
            <a:solidFill>
              <a:srgbClr val="7756A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4992624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2376" y="529437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测试与网页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40280" y="498348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准备测试题，整合网页，保存实验结果，完成使用说明和演示材料。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7863840" y="4992624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交给团队：测试题、结果表、可运行网页、汇报材料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658368" y="5989320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分工不是流水线：第 2 周起，成员 3 和成员 4 就可用小样本并行开发，不必等待全部资料准备完成。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1-4 周：搭建可运行的基础版本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资料、搜索、回答和评测同步开始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96012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51052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可信医疗问答系统｜四人分工与两个月计划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3504" y="1417320"/>
            <a:ext cx="2619756" cy="283464"/>
          </a:xfrm>
          <a:prstGeom prst="rect">
            <a:avLst/>
          </a:prstGeom>
          <a:solidFill>
            <a:srgbClr val="103C71"/>
          </a:solidFill>
          <a:ln w="6350">
            <a:solidFill>
              <a:srgbClr val="103C7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44752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 周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828800"/>
            <a:ext cx="2619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范围与准备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" y="225856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9264" y="2459736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 选主题和资料来源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658368" y="324612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9264" y="3172968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2 安装环境并定义搜索结果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658368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9264" y="388620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3 确定回答和引用模板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58368" y="4672584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69264" y="4599432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 设计测试题模板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03504" y="5166360"/>
            <a:ext cx="2619756" cy="658368"/>
          </a:xfrm>
          <a:prstGeom prst="roundRect">
            <a:avLst>
              <a:gd name="adj" fmla="val 5556"/>
            </a:avLst>
          </a:prstGeom>
          <a:solidFill>
            <a:srgbClr val="F6F9FD"/>
          </a:solidFill>
          <a:ln w="635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5257800"/>
            <a:ext cx="24368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本周检查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3232" y="5468112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全组跑通最小示例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3387852" y="1417320"/>
            <a:ext cx="2619756" cy="283464"/>
          </a:xfrm>
          <a:prstGeom prst="rect">
            <a:avLst/>
          </a:prstGeom>
          <a:solidFill>
            <a:srgbClr val="1F5FBF"/>
          </a:solidFill>
          <a:ln w="6350">
            <a:solidFill>
              <a:srgbClr val="1F5FB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7580" y="1444752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 周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87852" y="1828800"/>
            <a:ext cx="2619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首批样本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0352" y="225856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2716" y="2532888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53612" y="2459736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 切分首批资料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3442716" y="324612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53612" y="3172968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2 做两种搜索初版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3442716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53612" y="388620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3 用原文生成带引用回答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3442716" y="4672584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53612" y="4599432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 写 20-30 道测试题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3387852" y="5166360"/>
            <a:ext cx="2619756" cy="658368"/>
          </a:xfrm>
          <a:prstGeom prst="roundRect">
            <a:avLst>
              <a:gd name="adj" fmla="val 5556"/>
            </a:avLst>
          </a:prstGeom>
          <a:solidFill>
            <a:srgbClr val="F6F9FD"/>
          </a:solidFill>
          <a:ln w="635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9292" y="5257800"/>
            <a:ext cx="24368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本周检查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97580" y="5468112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首批资料可回答问题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6172200" y="1417320"/>
            <a:ext cx="2619756" cy="283464"/>
          </a:xfrm>
          <a:prstGeom prst="rect">
            <a:avLst/>
          </a:prstGeom>
          <a:solidFill>
            <a:srgbClr val="103C71"/>
          </a:solidFill>
          <a:ln w="6350">
            <a:solidFill>
              <a:srgbClr val="103C7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1444752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 周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72200" y="1828800"/>
            <a:ext cx="2619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打通流程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0352" y="225856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27064" y="2532888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37960" y="2459736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 检查表格、剂量和禁忌</a:t>
            </a:r>
            <a:endParaRPr lang="en-US" sz="1060" dirty="0"/>
          </a:p>
        </p:txBody>
      </p:sp>
      <p:sp>
        <p:nvSpPr>
          <p:cNvPr id="44" name="Text 42"/>
          <p:cNvSpPr/>
          <p:nvPr/>
        </p:nvSpPr>
        <p:spPr>
          <a:xfrm>
            <a:off x="6227064" y="324612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537960" y="3172968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2 合并两种搜索结果</a:t>
            </a:r>
            <a:endParaRPr lang="en-US" sz="1060" dirty="0"/>
          </a:p>
        </p:txBody>
      </p:sp>
      <p:sp>
        <p:nvSpPr>
          <p:cNvPr id="46" name="Text 44"/>
          <p:cNvSpPr/>
          <p:nvPr/>
        </p:nvSpPr>
        <p:spPr>
          <a:xfrm>
            <a:off x="6227064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537960" y="388620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3 接入搜索结果并记录引用</a:t>
            </a:r>
            <a:endParaRPr lang="en-US" sz="1060" dirty="0"/>
          </a:p>
        </p:txBody>
      </p:sp>
      <p:sp>
        <p:nvSpPr>
          <p:cNvPr id="48" name="Text 46"/>
          <p:cNvSpPr/>
          <p:nvPr/>
        </p:nvSpPr>
        <p:spPr>
          <a:xfrm>
            <a:off x="6227064" y="4672584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537960" y="4599432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 自动保存测试结果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6172200" y="5166360"/>
            <a:ext cx="2619756" cy="658368"/>
          </a:xfrm>
          <a:prstGeom prst="roundRect">
            <a:avLst>
              <a:gd name="adj" fmla="val 5556"/>
            </a:avLst>
          </a:prstGeom>
          <a:solidFill>
            <a:srgbClr val="F6F9FD"/>
          </a:solidFill>
          <a:ln w="635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5257800"/>
            <a:ext cx="24368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本周检查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81928" y="5468112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完成端到端流程</a:t>
            </a:r>
            <a:endParaRPr lang="en-US" sz="910" dirty="0"/>
          </a:p>
        </p:txBody>
      </p:sp>
      <p:sp>
        <p:nvSpPr>
          <p:cNvPr id="53" name="Shape 51"/>
          <p:cNvSpPr/>
          <p:nvPr/>
        </p:nvSpPr>
        <p:spPr>
          <a:xfrm>
            <a:off x="8956548" y="1417320"/>
            <a:ext cx="2619756" cy="283464"/>
          </a:xfrm>
          <a:prstGeom prst="rect">
            <a:avLst/>
          </a:prstGeom>
          <a:solidFill>
            <a:srgbClr val="1F5FBF"/>
          </a:solidFill>
          <a:ln w="6350">
            <a:solidFill>
              <a:srgbClr val="1F5FB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66276" y="1444752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4 周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956548" y="1828800"/>
            <a:ext cx="2619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初步优化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30352" y="225856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11412" y="2532888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322308" y="2459736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 抽检低质量小段</a:t>
            </a:r>
            <a:endParaRPr lang="en-US" sz="1060" dirty="0"/>
          </a:p>
        </p:txBody>
      </p:sp>
      <p:sp>
        <p:nvSpPr>
          <p:cNvPr id="59" name="Text 57"/>
          <p:cNvSpPr/>
          <p:nvPr/>
        </p:nvSpPr>
        <p:spPr>
          <a:xfrm>
            <a:off x="9011412" y="324612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322308" y="3172968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2 加入二次排序和上下文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9011412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322308" y="388620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3 准备引用支持判断样例</a:t>
            </a:r>
            <a:endParaRPr lang="en-US" sz="1060" dirty="0"/>
          </a:p>
        </p:txBody>
      </p:sp>
      <p:sp>
        <p:nvSpPr>
          <p:cNvPr id="63" name="Text 61"/>
          <p:cNvSpPr/>
          <p:nvPr/>
        </p:nvSpPr>
        <p:spPr>
          <a:xfrm>
            <a:off x="9011412" y="4672584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322308" y="4599432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 比较搜索方案并搭网页</a:t>
            </a:r>
            <a:endParaRPr lang="en-US" sz="1060" dirty="0"/>
          </a:p>
        </p:txBody>
      </p:sp>
      <p:sp>
        <p:nvSpPr>
          <p:cNvPr id="65" name="Shape 63"/>
          <p:cNvSpPr/>
          <p:nvPr/>
        </p:nvSpPr>
        <p:spPr>
          <a:xfrm>
            <a:off x="8956548" y="5166360"/>
            <a:ext cx="2619756" cy="658368"/>
          </a:xfrm>
          <a:prstGeom prst="roundRect">
            <a:avLst>
              <a:gd name="adj" fmla="val 5556"/>
            </a:avLst>
          </a:prstGeom>
          <a:solidFill>
            <a:srgbClr val="F6F9FD"/>
          </a:solidFill>
          <a:ln w="635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47988" y="5257800"/>
            <a:ext cx="24368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本周检查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066276" y="5468112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确认可靠的搜索组合</a:t>
            </a:r>
            <a:endParaRPr lang="en-US" sz="910" dirty="0"/>
          </a:p>
        </p:txBody>
      </p:sp>
      <p:sp>
        <p:nvSpPr>
          <p:cNvPr id="68" name="Text 66"/>
          <p:cNvSpPr/>
          <p:nvPr/>
        </p:nvSpPr>
        <p:spPr>
          <a:xfrm>
            <a:off x="685800" y="605332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4 周结束时，团队应能演示“提问、找原文、生成回答、查看引用”的完整流程。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5-8 周：补齐可信度与完成交付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从可运行原型走向可复现的课程项目成果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96012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51052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可信医疗问答系统｜四人分工与两个月计划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3504" y="1417320"/>
            <a:ext cx="2619756" cy="283464"/>
          </a:xfrm>
          <a:prstGeom prst="rect">
            <a:avLst/>
          </a:prstGeom>
          <a:solidFill>
            <a:srgbClr val="103C71"/>
          </a:solidFill>
          <a:ln w="6350">
            <a:solidFill>
              <a:srgbClr val="103C7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44752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5 周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828800"/>
            <a:ext cx="2619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引用核验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" y="225856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9264" y="2459736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 根据错误修复资料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658368" y="324612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9264" y="3172968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2 调整搜索数量和排序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658368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9264" y="388620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3 删除或改写无证据关键句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58368" y="4672584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69264" y="4599432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 把原文和引用显示在网页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03504" y="5166360"/>
            <a:ext cx="2619756" cy="658368"/>
          </a:xfrm>
          <a:prstGeom prst="roundRect">
            <a:avLst>
              <a:gd name="adj" fmla="val 5556"/>
            </a:avLst>
          </a:prstGeom>
          <a:solidFill>
            <a:srgbClr val="F6F9FD"/>
          </a:solidFill>
          <a:ln w="635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5257800"/>
            <a:ext cx="24368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本周检查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3232" y="5468112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人工抽查引用是否正确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3387852" y="1417320"/>
            <a:ext cx="2619756" cy="283464"/>
          </a:xfrm>
          <a:prstGeom prst="rect">
            <a:avLst/>
          </a:prstGeom>
          <a:solidFill>
            <a:srgbClr val="1F5FBF"/>
          </a:solidFill>
          <a:ln w="6350">
            <a:solidFill>
              <a:srgbClr val="1F5FB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7580" y="1444752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6 周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87852" y="1828800"/>
            <a:ext cx="2619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拒答与稳定性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0352" y="225856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2716" y="2532888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53612" y="2459736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 整理来源和许可说明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3442716" y="324612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53612" y="3172968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2 检查搜索稳定性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3442716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53612" y="388620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3 校准资料不足时的拒答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3442716" y="4672584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53612" y="4599432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 完善上传、会话和部署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3387852" y="5166360"/>
            <a:ext cx="2619756" cy="658368"/>
          </a:xfrm>
          <a:prstGeom prst="roundRect">
            <a:avLst>
              <a:gd name="adj" fmla="val 5556"/>
            </a:avLst>
          </a:prstGeom>
          <a:solidFill>
            <a:srgbClr val="F6F9FD"/>
          </a:solidFill>
          <a:ln w="635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9292" y="5257800"/>
            <a:ext cx="24368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本周检查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97580" y="5468112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可答与不可答均能处理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6172200" y="1417320"/>
            <a:ext cx="2619756" cy="283464"/>
          </a:xfrm>
          <a:prstGeom prst="rect">
            <a:avLst/>
          </a:prstGeom>
          <a:solidFill>
            <a:srgbClr val="103C71"/>
          </a:solidFill>
          <a:ln w="6350">
            <a:solidFill>
              <a:srgbClr val="103C7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1444752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7 周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72200" y="1828800"/>
            <a:ext cx="2619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全量测试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0352" y="225856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27064" y="2532888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37960" y="2459736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 复核失败题关联资料</a:t>
            </a:r>
            <a:endParaRPr lang="en-US" sz="1060" dirty="0"/>
          </a:p>
        </p:txBody>
      </p:sp>
      <p:sp>
        <p:nvSpPr>
          <p:cNvPr id="44" name="Text 42"/>
          <p:cNvSpPr/>
          <p:nvPr/>
        </p:nvSpPr>
        <p:spPr>
          <a:xfrm>
            <a:off x="6227064" y="324612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537960" y="3172968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2 修复搜不到或搜错问题</a:t>
            </a:r>
            <a:endParaRPr lang="en-US" sz="1060" dirty="0"/>
          </a:p>
        </p:txBody>
      </p:sp>
      <p:sp>
        <p:nvSpPr>
          <p:cNvPr id="46" name="Text 44"/>
          <p:cNvSpPr/>
          <p:nvPr/>
        </p:nvSpPr>
        <p:spPr>
          <a:xfrm>
            <a:off x="6227064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537960" y="388620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3 修复引用和拒答问题</a:t>
            </a:r>
            <a:endParaRPr lang="en-US" sz="1060" dirty="0"/>
          </a:p>
        </p:txBody>
      </p:sp>
      <p:sp>
        <p:nvSpPr>
          <p:cNvPr id="48" name="Text 46"/>
          <p:cNvSpPr/>
          <p:nvPr/>
        </p:nvSpPr>
        <p:spPr>
          <a:xfrm>
            <a:off x="6227064" y="4672584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537960" y="4599432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 跑完全部对比测试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6172200" y="5166360"/>
            <a:ext cx="2619756" cy="658368"/>
          </a:xfrm>
          <a:prstGeom prst="roundRect">
            <a:avLst>
              <a:gd name="adj" fmla="val 5556"/>
            </a:avLst>
          </a:prstGeom>
          <a:solidFill>
            <a:srgbClr val="F6F9FD"/>
          </a:solidFill>
          <a:ln w="635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5257800"/>
            <a:ext cx="24368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本周检查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81928" y="5468112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每人均可复现结果</a:t>
            </a:r>
            <a:endParaRPr lang="en-US" sz="910" dirty="0"/>
          </a:p>
        </p:txBody>
      </p:sp>
      <p:sp>
        <p:nvSpPr>
          <p:cNvPr id="53" name="Shape 51"/>
          <p:cNvSpPr/>
          <p:nvPr/>
        </p:nvSpPr>
        <p:spPr>
          <a:xfrm>
            <a:off x="8956548" y="1417320"/>
            <a:ext cx="2619756" cy="283464"/>
          </a:xfrm>
          <a:prstGeom prst="rect">
            <a:avLst/>
          </a:prstGeom>
          <a:solidFill>
            <a:srgbClr val="1F5FBF"/>
          </a:solidFill>
          <a:ln w="6350">
            <a:solidFill>
              <a:srgbClr val="1F5FB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66276" y="1444752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8 周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956548" y="1828800"/>
            <a:ext cx="2619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汇报交付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30352" y="225856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11412" y="2532888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322308" y="2459736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 整理资料说明和质量记录</a:t>
            </a:r>
            <a:endParaRPr lang="en-US" sz="1060" dirty="0"/>
          </a:p>
        </p:txBody>
      </p:sp>
      <p:sp>
        <p:nvSpPr>
          <p:cNvPr id="59" name="Text 57"/>
          <p:cNvSpPr/>
          <p:nvPr/>
        </p:nvSpPr>
        <p:spPr>
          <a:xfrm>
            <a:off x="9011412" y="324612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322308" y="3172968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2 整理搜索构建说明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9011412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322308" y="388620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3 完成人工核验结论</a:t>
            </a:r>
            <a:endParaRPr lang="en-US" sz="1060" dirty="0"/>
          </a:p>
        </p:txBody>
      </p:sp>
      <p:sp>
        <p:nvSpPr>
          <p:cNvPr id="63" name="Text 61"/>
          <p:cNvSpPr/>
          <p:nvPr/>
        </p:nvSpPr>
        <p:spPr>
          <a:xfrm>
            <a:off x="9011412" y="4672584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322308" y="4599432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 完成演示、报告和答辩材料</a:t>
            </a:r>
            <a:endParaRPr lang="en-US" sz="1060" dirty="0"/>
          </a:p>
        </p:txBody>
      </p:sp>
      <p:sp>
        <p:nvSpPr>
          <p:cNvPr id="65" name="Shape 63"/>
          <p:cNvSpPr/>
          <p:nvPr/>
        </p:nvSpPr>
        <p:spPr>
          <a:xfrm>
            <a:off x="8956548" y="5166360"/>
            <a:ext cx="2619756" cy="658368"/>
          </a:xfrm>
          <a:prstGeom prst="roundRect">
            <a:avLst>
              <a:gd name="adj" fmla="val 5556"/>
            </a:avLst>
          </a:prstGeom>
          <a:solidFill>
            <a:srgbClr val="F6F9FD"/>
          </a:solidFill>
          <a:ln w="635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47988" y="5257800"/>
            <a:ext cx="24368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本周检查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066276" y="5468112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完成演示彩排和归档</a:t>
            </a:r>
            <a:endParaRPr lang="en-US" sz="910" dirty="0"/>
          </a:p>
        </p:txBody>
      </p:sp>
      <p:sp>
        <p:nvSpPr>
          <p:cNvPr id="68" name="Text 66"/>
          <p:cNvSpPr/>
          <p:nvPr/>
        </p:nvSpPr>
        <p:spPr>
          <a:xfrm>
            <a:off x="685800" y="605332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7 周后尽量固定测试题、搜索参数和回答模板，避免最后阶段改变基准。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每周协作方式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用固定节奏减少等待，尽早发现资料、搜索和回答之间的问题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96012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51052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可信医疗问答系统｜四人分工与两个月计划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26464"/>
            <a:ext cx="10881360" cy="1024128"/>
          </a:xfrm>
          <a:prstGeom prst="roundRect">
            <a:avLst>
              <a:gd name="adj" fmla="val 4464"/>
            </a:avLst>
          </a:prstGeom>
          <a:solidFill>
            <a:srgbClr val="EAF2FF"/>
          </a:solidFill>
          <a:ln w="635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26464"/>
            <a:ext cx="1426464" cy="1024128"/>
          </a:xfrm>
          <a:prstGeom prst="roundRect">
            <a:avLst>
              <a:gd name="adj" fmla="val 4464"/>
            </a:avLst>
          </a:prstGeom>
          <a:solidFill>
            <a:srgbClr val="1F5FBF"/>
          </a:solidFill>
          <a:ln w="6350">
            <a:solidFill>
              <a:srgbClr val="1F5FB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373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50592" y="1600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明确本周交付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591056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在共享任务表写清要交什么；遇到术语先确认含义。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798064"/>
            <a:ext cx="10881360" cy="1024128"/>
          </a:xfrm>
          <a:prstGeom prst="roundRect">
            <a:avLst>
              <a:gd name="adj" fmla="val 4464"/>
            </a:avLst>
          </a:prstGeom>
          <a:solidFill>
            <a:srgbClr val="EAF6F0"/>
          </a:solidFill>
          <a:ln w="6350">
            <a:solidFill>
              <a:srgbClr val="EAF6F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798064"/>
            <a:ext cx="1426464" cy="1024128"/>
          </a:xfrm>
          <a:prstGeom prst="roundRect">
            <a:avLst>
              <a:gd name="adj" fmla="val 4464"/>
            </a:avLst>
          </a:prstGeom>
          <a:solidFill>
            <a:srgbClr val="2E7D5B"/>
          </a:solidFill>
          <a:ln w="635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1089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50592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交付小样本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2962656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 提供资料样本，成员 2 提供简版搜索，成员 3、4 立即接入。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169664"/>
            <a:ext cx="10881360" cy="1024128"/>
          </a:xfrm>
          <a:prstGeom prst="roundRect">
            <a:avLst>
              <a:gd name="adj" fmla="val 4464"/>
            </a:avLst>
          </a:prstGeom>
          <a:solidFill>
            <a:srgbClr val="FFF4DD"/>
          </a:solidFill>
          <a:ln w="6350">
            <a:solidFill>
              <a:srgbClr val="FFF4D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169664"/>
            <a:ext cx="1426464" cy="1024128"/>
          </a:xfrm>
          <a:prstGeom prst="roundRect">
            <a:avLst>
              <a:gd name="adj" fmla="val 4464"/>
            </a:avLst>
          </a:prstGeom>
          <a:solidFill>
            <a:srgbClr val="F28C28"/>
          </a:solidFill>
          <a:ln w="635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4805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周末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50592" y="4343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固定小题联调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17720" y="4334256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10-20 道题检查原文、搜索、回答和引用，记录失败原因。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532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固定记录四件事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21408" y="553212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14016" y="55046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找到了什么原文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79976" y="553212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72584" y="55046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回答写了什么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38544" y="553212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31152" y="55046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引用是否支持结论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897112" y="553212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89720" y="55046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哪里失败、谁负责修复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最终交付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8 周结束时，团队应能展示系统、说明证据来源，并复现实验结果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96012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51052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可信医疗问答系统｜四人分工与两个月计划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51790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0432" y="144475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可运行的问答网页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1444752"/>
            <a:ext cx="6995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输入中文问题后，展示回答和相关原文。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1901952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768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70432" y="220370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可回查的引用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2203704"/>
            <a:ext cx="6995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每个关键结论都能查看对应的原文和出处。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" y="2660904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0358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296265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明确的拒答提示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2962656"/>
            <a:ext cx="6995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资料不足时，系统解释无法可靠回答。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" y="3419856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70432" y="372160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可重复的测试结果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49040" y="3721608"/>
            <a:ext cx="6995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同一份资料、配置和测试题能再次运行并得到同类结果。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" y="4178808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5537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8C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70432" y="448056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C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完整的项目材料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49040" y="4480560"/>
            <a:ext cx="6995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资料说明、部署指南、实验报告和答辩材料。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0352" y="4937760"/>
            <a:ext cx="11137392" cy="0"/>
          </a:xfrm>
          <a:prstGeom prst="line">
            <a:avLst/>
          </a:prstGeom>
          <a:noFill/>
          <a:ln w="10160">
            <a:solidFill>
              <a:srgbClr val="D7E2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577840"/>
            <a:ext cx="10808208" cy="576072"/>
          </a:xfrm>
          <a:prstGeom prst="roundRect">
            <a:avLst>
              <a:gd name="adj" fmla="val 7937"/>
            </a:avLst>
          </a:prstGeom>
          <a:solidFill>
            <a:srgbClr val="103C71"/>
          </a:solidFill>
          <a:ln w="6350">
            <a:solidFill>
              <a:srgbClr val="103C7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742432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汇报时重点展示：一次真实提问、检索到的原文、带引用的回答，以及资料不足时的拒答。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课程项目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可信医疗问答系统：四人分工与两个月计划</dc:title>
  <dc:subject>可信医疗问答系统四人分工与两个月计划</dc:subject>
  <dc:creator>可信医疗问答项目组</dc:creator>
  <cp:lastModifiedBy>可信医疗问答项目组</cp:lastModifiedBy>
  <cp:revision>1</cp:revision>
  <dcterms:created xsi:type="dcterms:W3CDTF">2026-09-22T03:20:13Z</dcterms:created>
  <dcterms:modified xsi:type="dcterms:W3CDTF">2026-09-22T03:20:13Z</dcterms:modified>
</cp:coreProperties>
</file>